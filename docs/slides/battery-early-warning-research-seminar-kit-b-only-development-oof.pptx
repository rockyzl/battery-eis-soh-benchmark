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今天讲的不是“模型已经可以换电池”，而是一个更窄、更可审查的问题：用当前及过去容量、 使用条件和累计 exposure，预测未来第三次完成的检查时 SoH 会下降多少。所有数字都来自同一 个受控 development run；不能称为最终模型成绩。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一个电池现在 92% SoH，并不能直接告诉我们它未来三次检查会掉 0.5 个百分点还是 8 个百分点。 本项目先回答“会掉多少”，而不是先造一个 yes/no 告警。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数据文件可以有上百万行，但科学上的独立规模仍主要由 76 个 conditions 和 228 个 cells 决定。 如果随机拆频率行或 check-up，同一个电芯会同时出现在训练和测试中，结果会过度乐观。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Calendar、cyclic 和 driving profile 对应不同 exposure 过程。即使都用 H3，三次检查跨过的实际天数 或 EFC 也不同，因此必须按模式解释。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必须把“数据集里有 EIS”和“这次模型用了 EIS”分开。这次只是先把容量序列基线做扎实，不能 用这些结果回答 EIS 是否有增量价值。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truth 来自未来真实容量检查，不是人工标签。模型预测的是下降量；未来 SoH 只是从当前 SoH 减去预测下降量。这样能同时看到现在状态和未来变化。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2,919 不是 2,919 个独立电池，而是 180 个满足当前 B-view 历史/H3 条件的电芯在多个时间点的 快照。condition-held-out split 才能处理这些相关记录。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prefix-only 的意思是：在历史回放到 check-up t 时，输入只能来自当时已经知道的信息。未来的 H3 容量只在 label/evaluation 侧使用。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这种切法比随机行拆分更难，但更接近真正的问题：模型能否面对训练时没见过的一整组老化条件。 同一个 condition 的三个 replicates 不能跨到不同 folds。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这里不是说 variable selection 永远没用，而是当前 run 的目标是一个严格、可重复的第一基线。 未来如要筛变量，需要在 condition-grouped inner CV 中重新冻结方案。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这不是模型大赛。Recent slope 是必须认真对待的业务基线：如果复杂模型连它都不能稳定超过， 就没有理由增加部署复杂度。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表示文件结构、数量、hash 和运行契约完成校验，不等于科学发表或生产批准。最终 manifest 仍明确写着 publication_ready=false 和 protected_test_result=false。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例如 cyclic 中 ElasticNet 的 R² 比 recent slope 高，但 recent slope 的 MAE 更低。协议规定 MAE 是 primary，因此不能事后改用 R² 选模型。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calendar 结果说明非线性模型在这组受控 storage conditions 下值得继续研究。但它仍没有 protected test，也不能推导成真实车队部署性能。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这里最重要的不是“复杂模型输了”，而是不同老化模式的可预测结构不同。Recent slope 在这两种 模式的 primary MAE 最低，说明当前 12 个输入和固定模型还没有稳定超过简单局部趋势。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“没有通用赢家”不是含糊其辞，而是结果本身。Calendar 值得继续研究 HGB；cyclic/profile 必须先 理解为什么最近斜率更强，而不是继续堆更复杂模型。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这页是材料可信度的核心。尤其不能说“EIS 改善了预测”——本运行根本没有 EIS 输入。也不能把 development OOF 数字直接放进简历或对外文章。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UI 不是 battery digital twin。它的价值是让用户看到“当时知道什么、模型预测什么、什么时候才 知道答案”，并保留数据不可用原因。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模型不直接换电池。合理的第一步是“复测和人工审查排序”。是否省钱、是否减少漏检，都要在真实 流程中另外测量。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下一步不是盲目增加神经网络。先解释失败模式，再检验 EIS 是否真正增加信息，最后才讨论选择、 告警和部署。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项目现在已经从“纸上计划”进入了真实训练和可审计结果阶段，但还没有跨过最终验证边界。下一轮 工作的重点是解释模式差异、加入严格配对的 EIS 对照，并保留 protected test。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21792" y="475488"/>
            <a:ext cx="2468880" cy="310896"/>
          </a:xfrm>
          <a:prstGeom prst="roundRect">
            <a:avLst/>
          </a:prstGeom>
          <a:solidFill>
            <a:srgbClr val="15365B"/>
          </a:solidFill>
          <a:ln w="12700">
            <a:solidFill>
              <a:srgbClr val="153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7512" y="502920"/>
            <a:ext cx="2377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KIT 228 电芯 · RESEARCH SEMINAR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515600" cy="5669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电池衰减预警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10512"/>
            <a:ext cx="10515600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27C2D1"/>
                </a:solidFill>
                <a:latin typeface="Microsoft YaHei"/>
              </a:defRPr>
            </a:pPr>
            <a:r>
              <a:t>三次检查之后会掉多少？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15184"/>
            <a:ext cx="104241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0">
                <a:solidFill>
                  <a:srgbClr val="A8B8CE"/>
                </a:solidFill>
                <a:latin typeface="Microsoft YaHei"/>
              </a:defRPr>
            </a:pPr>
            <a:r>
              <a:t>condition-held-out development OOF · capacity-sequence B 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10128"/>
            <a:ext cx="2084831" cy="1170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493008"/>
            <a:ext cx="17556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7C2D1"/>
                </a:solidFill>
                <a:latin typeface="Microsoft YaHei"/>
              </a:defRPr>
            </a:pPr>
            <a:r>
              <a:t>228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041648"/>
            <a:ext cx="17556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8B8CE"/>
                </a:solidFill>
                <a:latin typeface="Microsoft YaHei"/>
              </a:defRPr>
            </a:pPr>
            <a:r>
              <a:t>physical cells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63240" y="3310128"/>
            <a:ext cx="2084831" cy="1170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7832" y="3493008"/>
            <a:ext cx="17556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7C2D1"/>
                </a:solidFill>
                <a:latin typeface="Microsoft YaHei"/>
              </a:defRPr>
            </a:pPr>
            <a: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4041648"/>
            <a:ext cx="17556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8B8CE"/>
                </a:solidFill>
                <a:latin typeface="Microsoft YaHei"/>
              </a:defRPr>
            </a:pPr>
            <a:r>
              <a:t>operating 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8112" y="3310128"/>
            <a:ext cx="2084831" cy="1170432"/>
          </a:xfrm>
          <a:prstGeom prst="roundRect">
            <a:avLst/>
          </a:prstGeom>
          <a:solidFill>
            <a:srgbClr val="14243C"/>
          </a:solidFill>
          <a:ln w="12700">
            <a:solidFill>
              <a:srgbClr val="2940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32704" y="3493008"/>
            <a:ext cx="1755648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400" b="1">
                <a:solidFill>
                  <a:srgbClr val="27C2D1"/>
                </a:solidFill>
                <a:latin typeface="Microsoft YaHei"/>
              </a:defRPr>
            </a:pPr>
            <a:r>
              <a:t>H3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32704" y="4041648"/>
            <a:ext cx="175564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0">
                <a:solidFill>
                  <a:srgbClr val="A8B8CE"/>
                </a:solidFill>
                <a:latin typeface="Microsoft YaHei"/>
              </a:defRPr>
            </a:pPr>
            <a:r>
              <a:t>exact future check-up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0416" y="3310128"/>
            <a:ext cx="3611880" cy="1170432"/>
          </a:xfrm>
          <a:prstGeom prst="roundRect">
            <a:avLst/>
          </a:prstGeom>
          <a:solidFill>
            <a:srgbClr val="281D27"/>
          </a:solidFill>
          <a:ln w="12700">
            <a:solidFill>
              <a:srgbClr val="6741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3502152"/>
            <a:ext cx="31546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2A93B"/>
                </a:solidFill>
                <a:latin typeface="Microsoft YaHei"/>
              </a:defRPr>
            </a:pPr>
            <a:r>
              <a:t>当前证据边界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9872" y="384048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B-only development run</a:t>
            </a:r>
          </a:p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无 protected test · 未做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5961888"/>
            <a:ext cx="6217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A8B8CE"/>
                </a:solidFill>
                <a:latin typeface="Microsoft YaHei"/>
              </a:defRPr>
            </a:pPr>
            <a:r>
              <a:t>Lu Zhang  ·  independent public-data research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46520"/>
            <a:ext cx="795527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27C2D1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19088"/>
            <a:ext cx="7772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A8B8CE"/>
                </a:solidFill>
                <a:latin typeface="Microsoft YaHei"/>
              </a:defRPr>
            </a:pPr>
            <a: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研究问题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1. 为什么不只报告当前 SoH？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89888"/>
            <a:ext cx="3840480" cy="210312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89888"/>
            <a:ext cx="64008" cy="21031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54480"/>
            <a:ext cx="34564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现在知道什么？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84248"/>
            <a:ext cx="345643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容量、当前 SoH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历史趋势、使用条件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99432" y="2029968"/>
            <a:ext cx="64008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389888"/>
            <a:ext cx="6126480" cy="210312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94960" y="1389888"/>
            <a:ext cx="64008" cy="210312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05272" y="1554480"/>
            <a:ext cx="57424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真正要提前知道什么？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1984248"/>
            <a:ext cx="5742432" cy="1353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未来第三次完成的检查时，SoH 会下降多少？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哪些电芯值得优先复测或人工审查？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858768"/>
            <a:ext cx="10881360" cy="67665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2A93B"/>
                </a:solidFill>
                <a:latin typeface="Microsoft YaHei"/>
              </a:defRPr>
            </a:pPr>
            <a:r>
              <a:t>测量结果 ≠ 未来预测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4041648"/>
            <a:ext cx="80010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本项目预测连续衰减量，再派生 future SoH。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5029200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5" y="4919472"/>
            <a:ext cx="1026871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2033"/>
                </a:solidFill>
                <a:latin typeface="Microsoft YaHei"/>
              </a:defRPr>
            </a:pPr>
            <a:r>
              <a:t>不预测热失控、火灾、内短路或所有故障</a:t>
            </a:r>
          </a:p>
        </p:txBody>
      </p:sp>
      <p:sp>
        <p:nvSpPr>
          <p:cNvPr id="19" name="Oval 18"/>
          <p:cNvSpPr/>
          <p:nvPr/>
        </p:nvSpPr>
        <p:spPr>
          <a:xfrm>
            <a:off x="749808" y="5559552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5" y="5449824"/>
            <a:ext cx="10268712" cy="512063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172033"/>
                </a:solidFill>
                <a:latin typeface="Microsoft YaHei"/>
              </a:defRPr>
            </a:pPr>
            <a:r>
              <a:t>“优先复测”只是业务价值假设，尚未验证维护效果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数据单位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2. 官方 KIT 数据：独立单位不是频率行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478F6"/>
                </a:solidFill>
                <a:latin typeface="Microsoft YaHei"/>
              </a:defRPr>
            </a:pPr>
            <a:r>
              <a:t>76 conditions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61488" y="13716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627089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2112" y="1371600"/>
            <a:ext cx="22860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7656D6"/>
                </a:solidFill>
                <a:latin typeface="Microsoft YaHei"/>
              </a:defRPr>
            </a:pPr>
            <a:r>
              <a:t>3 replicate cells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371600"/>
            <a:ext cx="41148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627089"/>
                </a:solidFill>
                <a:latin typeface="Microsoft YaHei"/>
              </a:defRPr>
            </a:pPr>
            <a:r>
              <a:t>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5312" y="1371600"/>
            <a:ext cx="19202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31B57A"/>
                </a:solidFill>
                <a:latin typeface="Microsoft YaHei"/>
              </a:defRPr>
            </a:pPr>
            <a:r>
              <a:t>228 cells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2057400" cy="65836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084832"/>
            <a:ext cx="196596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层级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15768" y="1993392"/>
            <a:ext cx="4572000" cy="65836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61487" y="2084832"/>
            <a:ext cx="448056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数据含义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87768" y="1993392"/>
            <a:ext cx="4297680" cy="658368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33488" y="2084832"/>
            <a:ext cx="420624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拆分规则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651760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724912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Condition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15768" y="2651760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61487" y="2724912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一组固定老化条件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87768" y="2651760"/>
            <a:ext cx="4297680" cy="658368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33488" y="2724912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完整 hold 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310128"/>
            <a:ext cx="20574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3383280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Cell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15768" y="3310128"/>
            <a:ext cx="45720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61487" y="3383280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真实 18650 电芯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3310128"/>
            <a:ext cx="4297680" cy="658368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3383280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同 condition 不拆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968496"/>
            <a:ext cx="20574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4041648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Check-up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15768" y="3968496"/>
            <a:ext cx="45720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1487" y="4041648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同一电芯的重复诊断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87768" y="3968496"/>
            <a:ext cx="42976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33488" y="4041648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不是独立电芯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626864"/>
            <a:ext cx="20574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" y="4700016"/>
            <a:ext cx="19659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Spectrum / row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15768" y="4626864"/>
            <a:ext cx="457200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61487" y="4700016"/>
            <a:ext cx="448056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检查细节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87768" y="4626864"/>
            <a:ext cx="4297680" cy="658368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33488" y="4700016"/>
            <a:ext cx="4206240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不是独立样本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394960"/>
            <a:ext cx="10927080" cy="53035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5541264"/>
            <a:ext cx="105156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19" b="1">
                <a:solidFill>
                  <a:srgbClr val="E45B5B"/>
                </a:solidFill>
                <a:latin typeface="Microsoft YaHei"/>
              </a:defRPr>
            </a:pPr>
            <a:r>
              <a:t>科学独立规模由 76 conditions / 228 cells 决定，不由上百万频率行决定。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三类老化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3. 三种老化模式不是同一个“cycle number”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64008" cy="315468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CALENDAR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3911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16 conditions · 48 cells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静置老化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主要 exposure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elapsed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44752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44752"/>
            <a:ext cx="64008" cy="315468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0934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CYCLIC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3911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48 conditions · 144 cells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受控充放电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主要 exposure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EFC + elapsed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2" y="1444752"/>
            <a:ext cx="3401568" cy="3154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2" y="1444752"/>
            <a:ext cx="64008" cy="315468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38744" y="1609344"/>
            <a:ext cx="30175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DRIVING 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039112"/>
            <a:ext cx="3017520" cy="2404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12 conditions · 36 cells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WLTP-derived 动态功率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主要 exposure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EFC；距离需可追溯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901184"/>
            <a:ext cx="10771632" cy="822960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102352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F2A93B"/>
                </a:solidFill>
                <a:latin typeface="Microsoft YaHei"/>
              </a:defRPr>
            </a:pPr>
            <a:r>
              <a:t>分别训练 · 分别报告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5129784"/>
            <a:ext cx="784555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check-up index 只是顺序；模式误差不能混成一个“全局最好模型”。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本次运行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4. 这次正式开发运行究竟用了什么？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Q0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82368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11552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4704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SoH 历史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53840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024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176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衰减斜率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27648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顺序 / exposure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784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25968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99120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老化条件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68256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97440" y="1444752"/>
            <a:ext cx="154228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70592" y="1517904"/>
            <a:ext cx="1395984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172033"/>
                </a:solidFill>
                <a:latin typeface="Microsoft YaHei"/>
              </a:defRPr>
            </a:pPr>
            <a:r>
              <a:t>H3 loss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06040"/>
            <a:ext cx="6656832" cy="20848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816352"/>
            <a:ext cx="33832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3478F6"/>
                </a:solidFill>
                <a:latin typeface="Microsoft YaHei"/>
              </a:defRPr>
            </a:pPr>
            <a:r>
              <a:t>B VIEW · CAPACITY SEQUENCE</a:t>
            </a:r>
          </a:p>
        </p:txBody>
      </p:sp>
      <p:sp>
        <p:nvSpPr>
          <p:cNvPr id="24" name="Oval 23"/>
          <p:cNvSpPr/>
          <p:nvPr/>
        </p:nvSpPr>
        <p:spPr>
          <a:xfrm>
            <a:off x="896112" y="3355848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246120"/>
            <a:ext cx="5742431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cell_eocv2.zip · SHA-256 …e140</a:t>
            </a:r>
          </a:p>
        </p:txBody>
      </p:sp>
      <p:sp>
        <p:nvSpPr>
          <p:cNvPr id="26" name="Oval 25"/>
          <p:cNvSpPr/>
          <p:nvPr/>
        </p:nvSpPr>
        <p:spPr>
          <a:xfrm>
            <a:off x="896112" y="3776472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3666744"/>
            <a:ext cx="5742431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原始 EOC：228 cells / 1,286,612 rows</a:t>
            </a:r>
          </a:p>
        </p:txBody>
      </p:sp>
      <p:sp>
        <p:nvSpPr>
          <p:cNvPr id="28" name="Oval 27"/>
          <p:cNvSpPr/>
          <p:nvPr/>
        </p:nvSpPr>
        <p:spPr>
          <a:xfrm>
            <a:off x="896112" y="4197096"/>
            <a:ext cx="118872" cy="118872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4087368"/>
            <a:ext cx="5742431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172033"/>
                </a:solidFill>
                <a:latin typeface="Microsoft YaHei"/>
              </a:defRPr>
            </a:pPr>
            <a:r>
              <a:t>标准化容量 endpoints：3,999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44383" y="2606040"/>
            <a:ext cx="3877056" cy="2084831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09560" y="2834640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E45B5B"/>
                </a:solidFill>
                <a:latin typeface="Microsoft YaHei"/>
              </a:defRPr>
            </a:pPr>
            <a:r>
              <a:t>本次没有使用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364992"/>
            <a:ext cx="3310128" cy="7772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172033"/>
                </a:solidFill>
                <a:latin typeface="Microsoft YaHei"/>
              </a:defRPr>
            </a:pPr>
            <a:r>
              <a:t>EIS · D_CORE · pulse</a:t>
            </a:r>
          </a:p>
          <a:p>
            <a:pPr algn="ctr">
              <a:spcAft>
                <a:spcPts val="0"/>
              </a:spcAft>
              <a:defRPr sz="1300" b="1">
                <a:solidFill>
                  <a:srgbClr val="172033"/>
                </a:solidFill>
                <a:latin typeface="Microsoft YaHei"/>
              </a:defRPr>
            </a:pPr>
            <a:r>
              <a:t>O2 classification · RUL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0" y="4224528"/>
            <a:ext cx="2395728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200" y="4251960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eis_allowed = false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193792"/>
            <a:ext cx="1069848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2A93B"/>
                </a:solidFill>
                <a:latin typeface="Microsoft YaHei"/>
              </a:defRPr>
            </a:pPr>
            <a:r>
              <a:t>数据集含 EIS  ≠  本次模型使用了 EIS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目标定义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5. Ground truth：Q0、SoH 与 H3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26464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" y="1673352"/>
            <a:ext cx="384048" cy="384048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174650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093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SoH_t 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09397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478F6"/>
                </a:solidFill>
                <a:latin typeface="Microsoft YaHei"/>
              </a:defRPr>
            </a:pPr>
            <a:r>
              <a:t>100 × Capacity_t / Q0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1426464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35423" y="1673352"/>
            <a:ext cx="384048" cy="384048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3" y="174650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6093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H3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209397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SoH_t − SoH_t+3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1426464"/>
            <a:ext cx="34015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11312" y="1673352"/>
            <a:ext cx="384048" cy="384048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1746504"/>
            <a:ext cx="38404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23376" y="1609344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Future SoH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093976"/>
            <a:ext cx="24231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7656D6"/>
                </a:solidFill>
                <a:latin typeface="Microsoft YaHei"/>
              </a:defRPr>
            </a:pPr>
            <a:r>
              <a:t>current SoH − predicted loss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83280" cy="1965960"/>
          </a:xfrm>
          <a:prstGeom prst="roundRect">
            <a:avLst/>
          </a:prstGeom>
          <a:solidFill>
            <a:srgbClr val="EAF2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64008" cy="196596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3383280"/>
            <a:ext cx="2999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Q0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13048"/>
            <a:ext cx="2999232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每个电芯冻结的首个有效标准容量 endpoint。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218688"/>
            <a:ext cx="3383280" cy="196596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89120" y="3218688"/>
            <a:ext cx="64008" cy="196596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9432" y="3383280"/>
            <a:ext cx="2999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2" y="3813048"/>
            <a:ext cx="2999232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未来第三次完成的 check-up；不是三天，也不是三次 cycle。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19872" y="3218688"/>
            <a:ext cx="3383280" cy="1965960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9872" y="3218688"/>
            <a:ext cx="64008" cy="196596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0184" y="3383280"/>
            <a:ext cx="29992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缺失与符号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4" y="3813048"/>
            <a:ext cx="2999232" cy="12161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负 loss 保留；末端无 exact H3 标为 no_h3_followup。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31920" y="5522976"/>
            <a:ext cx="429768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77639" y="5550408"/>
            <a:ext cx="42062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单位：SoH percentage points (pp)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EDA / 样本构造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6. EDA：3,999 个 endpoints 怎样变成 2,919 个快照？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2834640" cy="585216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81328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7" name="Rectangle 6"/>
          <p:cNvSpPr/>
          <p:nvPr/>
        </p:nvSpPr>
        <p:spPr>
          <a:xfrm>
            <a:off x="3493008" y="1389888"/>
            <a:ext cx="1508760" cy="585216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38728" y="1481328"/>
            <a:ext cx="1417319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数量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1768" y="1389888"/>
            <a:ext cx="4526280" cy="585216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47488" y="1481328"/>
            <a:ext cx="4434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含义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975104"/>
            <a:ext cx="28346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048256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eligible_f1_b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1975104"/>
            <a:ext cx="1508760" cy="585216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8" y="2048256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2,919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1768" y="1975104"/>
            <a:ext cx="4526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2048256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足够历史 + exact H3 truth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560320"/>
            <a:ext cx="283464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633472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insufficient_history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93008" y="2560320"/>
            <a:ext cx="150876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38728" y="2633472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456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1768" y="2560320"/>
            <a:ext cx="452628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47488" y="2633472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前两个 check-up 不足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145536"/>
            <a:ext cx="283464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218688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no_h3_followup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93008" y="3145536"/>
            <a:ext cx="150876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38728" y="3218688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624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01768" y="3145536"/>
            <a:ext cx="452628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3218688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右边界无未来第三次检查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730752"/>
            <a:ext cx="283464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3803904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合计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93008" y="3730752"/>
            <a:ext cx="1508760" cy="585216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38728" y="3803904"/>
            <a:ext cx="1417319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3,999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1768" y="3730752"/>
            <a:ext cx="4526280" cy="585216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47488" y="3803904"/>
            <a:ext cx="4434840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与 source manifest 对齐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389888"/>
            <a:ext cx="2340864" cy="29260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1792224"/>
            <a:ext cx="1865376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800" b="1">
                <a:solidFill>
                  <a:srgbClr val="27C2D1"/>
                </a:solidFill>
                <a:latin typeface="Microsoft YaHei"/>
              </a:defRPr>
            </a:pPr>
            <a:r>
              <a:t>2,919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395728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eligible snapshots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2889504"/>
            <a:ext cx="1874519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2A93B"/>
                </a:solidFill>
                <a:latin typeface="Microsoft YaHei"/>
              </a:defRPr>
            </a:pPr>
            <a:r>
              <a:t>不是独立电池数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63456" y="3364992"/>
            <a:ext cx="1901952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0">
                <a:solidFill>
                  <a:srgbClr val="C5D1E0"/>
                </a:solidFill>
                <a:latin typeface="Microsoft YaHei"/>
              </a:defRPr>
            </a:pPr>
            <a:r>
              <a:t>来自 180 个满足条件的电芯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4617720"/>
            <a:ext cx="21031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可训练快照按模式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047488"/>
            <a:ext cx="4205976" cy="54864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193792"/>
            <a:ext cx="42059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Calendar  1,134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344" y="5047488"/>
            <a:ext cx="4413679" cy="54864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64344" y="5193792"/>
            <a:ext cx="441367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Cyclic  1,190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78024" y="5047488"/>
            <a:ext cx="2206839" cy="54864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78024" y="5193792"/>
            <a:ext cx="2206839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Profile  595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870448"/>
            <a:ext cx="10826496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缺失原因必须分开记录，不能统一填 0 或无解释丢弃。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7. Preprocessing 与 prefix-only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371600"/>
            <a:ext cx="64008" cy="1078992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当前 / 上一次 / 上上次 SoH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71600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64008" cy="1078992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3619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趋势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65960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最近一次与两个间隔 signed loss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61488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761488"/>
            <a:ext cx="64008" cy="1078992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2926080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进程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355848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check-up index · elapsed days · throughput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761488"/>
            <a:ext cx="5230368" cy="10789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44768" y="2761488"/>
            <a:ext cx="64008" cy="1078992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26080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条件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55848"/>
            <a:ext cx="484632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温度 · charge/discharge rate · profile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15968"/>
            <a:ext cx="10735056" cy="10972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590288"/>
            <a:ext cx="2011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27C2D1"/>
                </a:solidFill>
                <a:latin typeface="Microsoft YaHei"/>
              </a:defRPr>
            </a:pPr>
            <a:r>
              <a:t>PREFIX-ONLY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72000"/>
            <a:ext cx="42976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预测时点 t 的输入只能来自 t 及以前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590288"/>
            <a:ext cx="36118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2A93B"/>
                </a:solidFill>
                <a:latin typeface="Microsoft YaHei"/>
              </a:defRPr>
            </a:pPr>
            <a:r>
              <a:t>不读 t+1 … t+3 future values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" y="5687568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preprocessing 只在 outer-training conditions 内拟合；运行时检查 target arithmetic、identity 和 counts。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验证设计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8. 数据怎么分：完整 condition holdout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417320"/>
            <a:ext cx="23774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3478F6"/>
                </a:solidFill>
                <a:latin typeface="Microsoft YaHei"/>
              </a:defRPr>
            </a:pPr>
            <a:r>
              <a:t>每种 ageing mode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1417320"/>
            <a:ext cx="3657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417320"/>
            <a:ext cx="4023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72033"/>
                </a:solidFill>
                <a:latin typeface="Microsoft YaHei"/>
              </a:defRPr>
            </a:pPr>
            <a:r>
              <a:t>3 个 outer condition-group folds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2267712"/>
            <a:ext cx="96012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9514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FOLD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7977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56232" y="2679192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其余 conditions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拟合 preprocessing +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4728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HOLD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56232" y="3346704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完整 condition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3 cells + 全部 check-ups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62855" y="2267712"/>
            <a:ext cx="96012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08575" y="229514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FOLD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77977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TRAIN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79192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其余 conditions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拟合 preprocessing +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44728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HOLD OUT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346704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完整 condition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3 cells + 全部 check-ups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37575" y="2057400"/>
            <a:ext cx="340156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38744" y="2267712"/>
            <a:ext cx="96012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2295144"/>
            <a:ext cx="86868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FOLD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2779776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31B57A"/>
                </a:solidFill>
                <a:latin typeface="Microsoft YaHei"/>
              </a:defRPr>
            </a:pPr>
            <a: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7" y="2679192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其余 conditions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拟合 preprocessing +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6175" y="3447288"/>
            <a:ext cx="9601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E45B5B"/>
                </a:solidFill>
                <a:latin typeface="Microsoft YaHei"/>
              </a:defRPr>
            </a:pPr>
            <a:r>
              <a:t>HOLD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7" y="3346704"/>
            <a:ext cx="19202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完整 condition</a:t>
            </a:r>
          </a:p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3 cells + 全部 check-ups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443984"/>
            <a:ext cx="10753344" cy="713232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4636008"/>
            <a:ext cx="10287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45B5B"/>
                </a:solidFill>
                <a:latin typeface="Microsoft YaHei"/>
              </a:defRPr>
            </a:pPr>
            <a:r>
              <a:t>禁止 random row / random check-up / fragmented-cell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5559552"/>
            <a:ext cx="107442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这是 development OOF：模拟“新的 operating condition”，不是 protected external test。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变量选择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9. Variable selection：先不做 outcome-driven 筛选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3657600" cy="443484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3154680" cy="4937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27C2D1"/>
                </a:solidFill>
                <a:latin typeface="Microsoft YaHei"/>
              </a:defRPr>
            </a:pPr>
            <a:r>
              <a:t>LOCKED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9152"/>
            <a:ext cx="31546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12 个 B-view 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44368"/>
            <a:ext cx="315468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0">
                <a:solidFill>
                  <a:srgbClr val="BAC8DA"/>
                </a:solidFill>
                <a:latin typeface="Microsoft YaHei"/>
              </a:defRPr>
            </a:pPr>
            <a:r>
              <a:t>scientific meaning</a:t>
            </a:r>
          </a:p>
          <a:p>
            <a:pPr algn="ctr">
              <a:spcAft>
                <a:spcPts val="0"/>
              </a:spcAft>
              <a:defRPr sz="1200" b="0">
                <a:solidFill>
                  <a:srgbClr val="BAC8DA"/>
                </a:solidFill>
                <a:latin typeface="Microsoft YaHei"/>
              </a:defRPr>
            </a:pPr>
            <a:r>
              <a:t>+ leakage rules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4023360"/>
            <a:ext cx="2788920" cy="310896"/>
          </a:xfrm>
          <a:prstGeom prst="roundRect">
            <a:avLst/>
          </a:prstGeom>
          <a:solidFill>
            <a:srgbClr val="362B3D"/>
          </a:solidFill>
          <a:ln w="12700">
            <a:solidFill>
              <a:srgbClr val="362B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4050792"/>
            <a:ext cx="2697479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2A93B"/>
                </a:solidFill>
                <a:latin typeface="Microsoft YaHei"/>
              </a:defRPr>
            </a:pPr>
            <a:r>
              <a:t>selection_performed =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0016"/>
            <a:ext cx="315468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原因：只有 76 个独立 conditions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45152" y="1371600"/>
            <a:ext cx="3246120" cy="1234440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45152" y="1371600"/>
            <a:ext cx="64008" cy="1234440"/>
          </a:xfrm>
          <a:prstGeom prst="rect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55464" y="1536192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不按 correlation 筛变量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55464" y="1965960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不使用全数据 outcome 做筛选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93024" y="1371600"/>
            <a:ext cx="3246120" cy="1234440"/>
          </a:xfrm>
          <a:prstGeom prst="roundRect">
            <a:avLst/>
          </a:prstGeom>
          <a:solidFill>
            <a:srgbClr val="FDEEEE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4" y="1371600"/>
            <a:ext cx="64008" cy="1234440"/>
          </a:xfrm>
          <a:prstGeom prst="rect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536192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不看 holdout 改变量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1965960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不删除“不好看”的输入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852928"/>
            <a:ext cx="3246120" cy="123444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852928"/>
            <a:ext cx="64008" cy="123444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3017520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ElasticNet shrinkage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447288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用正则化控制线性复杂度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93024" y="2852928"/>
            <a:ext cx="3246120" cy="1234440"/>
          </a:xfrm>
          <a:prstGeom prst="roundRect">
            <a:avLst/>
          </a:prstGeom>
          <a:solidFill>
            <a:srgbClr val="F1EEFB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93024" y="2852928"/>
            <a:ext cx="64008" cy="123444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03336" y="3017520"/>
            <a:ext cx="28620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HGB 固定复杂度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03336" y="3447288"/>
            <a:ext cx="2862072" cy="4846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浅树、有限 leaves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4334256"/>
            <a:ext cx="6793992" cy="1472184"/>
          </a:xfrm>
          <a:prstGeom prst="roundRect">
            <a:avLst/>
          </a:prstGeom>
          <a:solidFill>
            <a:srgbClr val="FFF5E4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4334256"/>
            <a:ext cx="64008" cy="1472184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4498848"/>
            <a:ext cx="640994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没有调参 / ensemble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4928616"/>
            <a:ext cx="6409944" cy="72237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未来如要筛变量，只能在 condition-grouped inner CV 中重新冻结方案。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模型对照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10. 为什么是两条 baseline + 两个模型？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99032"/>
            <a:ext cx="64008" cy="2423160"/>
          </a:xfrm>
          <a:prstGeom prst="rect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未来不下降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作用：最低门槛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01568" y="1399032"/>
            <a:ext cx="64008" cy="242316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79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Recent slope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最近下降速度 × 3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作用：强透明基线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6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63056" y="1399032"/>
            <a:ext cx="64008" cy="242316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ElasticNet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正则化线性回归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作用：线性组合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24544" y="1399032"/>
            <a:ext cx="2514600" cy="2423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24544" y="1399032"/>
            <a:ext cx="64008" cy="242316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6" y="1563624"/>
            <a:ext cx="213055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1993392"/>
            <a:ext cx="2130552" cy="1673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受约束树模型</a:t>
            </a: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</a:p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作用：非线性 / 交互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3 modes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449884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38728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11880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3 folds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49884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35624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08776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2 fitted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03336" y="449884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7C2D1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19" y="4315968"/>
            <a:ext cx="2267712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05672" y="4389120"/>
            <a:ext cx="2121408" cy="6949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18 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413248"/>
            <a:ext cx="4983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每种 mode：3 folds × 2 fitted models = 6 fits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5413248"/>
            <a:ext cx="4572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627089"/>
                </a:solidFill>
                <a:latin typeface="Microsoft YaHei"/>
              </a:defRPr>
            </a:pPr>
            <a:r>
              <a:t>Baselines 直接计算，不计 fitted-model 次数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5897880"/>
            <a:ext cx="9738360" cy="31089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5925312"/>
            <a:ext cx="96469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2A93B"/>
                </a:solidFill>
                <a:latin typeface="Microsoft YaHei"/>
              </a:defRPr>
            </a:pPr>
            <a:r>
              <a:t>这不是模型大赛：复杂模型必须稳定超过 recent slope 才值得增加复杂度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可追溯产物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11. 训练产物：每个数字都能回到一条快照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81328"/>
            <a:ext cx="182880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3478F6"/>
                </a:solidFill>
                <a:latin typeface="Microsoft YaHei"/>
              </a:defRPr>
            </a:pPr>
            <a:r>
              <a:t>2,919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911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eligible snapshots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62763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627089"/>
                </a:solidFill>
                <a:latin typeface="Microsoft YaHei"/>
              </a:defRPr>
            </a:pPr>
            <a:r>
              <a:t>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72384" y="1481328"/>
            <a:ext cx="1097280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7656D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039112"/>
            <a:ext cx="1755648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model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1627632"/>
            <a:ext cx="384048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627089"/>
                </a:solidFill>
                <a:latin typeface="Microsoft YaHei"/>
              </a:defRPr>
            </a:pPr>
            <a: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81328"/>
            <a:ext cx="2084831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700" b="1">
                <a:solidFill>
                  <a:srgbClr val="31B57A"/>
                </a:solidFill>
                <a:latin typeface="Microsoft YaHei"/>
              </a:defRPr>
            </a:pPr>
            <a:r>
              <a:t>11,676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039112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OOF prediction rows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371600"/>
            <a:ext cx="3657600" cy="1170432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1000" y="1627632"/>
            <a:ext cx="146304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900" b="1">
                <a:solidFill>
                  <a:srgbClr val="31B57A"/>
                </a:solidFill>
                <a:latin typeface="Microsoft YaHei"/>
              </a:defRPr>
            </a:pPr>
            <a:r>
              <a:t>18 / 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5752" y="1728216"/>
            <a:ext cx="16459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172033"/>
                </a:solidFill>
                <a:latin typeface="Microsoft YaHei"/>
              </a:defRPr>
            </a:pPr>
            <a:r>
              <a:t>planned / completed fits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19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79320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508504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81656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snapshot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9455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58640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1792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fold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79592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08776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81928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prediction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9728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58912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2064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9864" y="32278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09048" y="3044952"/>
            <a:ext cx="1520952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2200" y="3118104"/>
            <a:ext cx="1374648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manifest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4005072"/>
            <a:ext cx="5760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3478F6"/>
                </a:solidFill>
                <a:latin typeface="Microsoft YaHei"/>
              </a:defRPr>
            </a:pPr>
            <a:r>
              <a:t>SHA-256 lineage binds every stage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590288"/>
            <a:ext cx="6876288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4590288"/>
            <a:ext cx="64008" cy="11887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754879"/>
            <a:ext cx="64922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5184648"/>
            <a:ext cx="64922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kit-f1-b-capacity-sequence-v1-20260802T1510-cdt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818120" y="4590288"/>
            <a:ext cx="3611880" cy="1188720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18120" y="4590288"/>
            <a:ext cx="64008" cy="118872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28432" y="4754879"/>
            <a:ext cx="322783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MANIFEST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28432" y="5184648"/>
            <a:ext cx="3227832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status = validated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6007608"/>
            <a:ext cx="1071676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E45B5B"/>
                </a:solidFill>
                <a:latin typeface="Microsoft YaHei"/>
              </a:defRPr>
            </a:pPr>
            <a:r>
              <a:t>validated = 结构 / 数量 / hash / 契约通过；不等于科学发表或生产批准。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评估协议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12. 怎样评估：condition-balanced MAE 为主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每个 held-out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99815" y="1600200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计算 MAE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600200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1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2783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每个 condition 等权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600200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417320"/>
            <a:ext cx="2441448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43416" y="1490472"/>
            <a:ext cx="2295144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跨 condition 平均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15184"/>
            <a:ext cx="3657600" cy="224028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2898648"/>
            <a:ext cx="3182112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27C2D1"/>
                </a:solidFill>
                <a:latin typeface="Microsoft YaHei"/>
              </a:defRPr>
            </a:pPr>
            <a:r>
              <a:t>PRIMARY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401568"/>
            <a:ext cx="3182112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Condition-balanced</a:t>
            </a:r>
          </a:p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43400"/>
            <a:ext cx="318211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B7C6D9"/>
                </a:solidFill>
                <a:latin typeface="Microsoft YaHei"/>
              </a:defRPr>
            </a:pPr>
            <a:r>
              <a:t>单位：SoH 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45152" y="2615184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45152" y="2615184"/>
            <a:ext cx="64008" cy="960120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55464" y="2779776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Median AE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209544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1583" y="2615184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1583" y="2615184"/>
            <a:ext cx="64008" cy="960120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11896" y="2779776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RMSE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11896" y="3209544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45152" y="3822191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45152" y="3822191"/>
            <a:ext cx="64008" cy="960120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55464" y="3986783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Signed bias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5464" y="4416552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01583" y="3822191"/>
            <a:ext cx="3172968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01583" y="3822191"/>
            <a:ext cx="64008" cy="960120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11896" y="3986783"/>
            <a:ext cx="27889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R²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4416552"/>
            <a:ext cx="278892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secondary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45152" y="5129784"/>
            <a:ext cx="6629400" cy="658368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64608" y="5312664"/>
            <a:ext cx="6190488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F2A93B"/>
                </a:solidFill>
                <a:latin typeface="Microsoft YaHei"/>
              </a:defRPr>
            </a:pPr>
            <a:r>
              <a:t>MAE 与 R² 可能排序不同；不能事后挑好看的指标。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788152"/>
            <a:ext cx="3657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当前运行没有 per-prediction interval。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结果 ·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13. Calendar ageing：HGB 的 development OOF 最低 MAE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44168" y="422452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12394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0.0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355015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344957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0.3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287578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77520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44168" y="220141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0834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0.9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44168" y="1527048"/>
            <a:ext cx="4389120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26463"/>
            <a:ext cx="5669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750" b="0">
                <a:solidFill>
                  <a:srgbClr val="627089"/>
                </a:solidFill>
                <a:latin typeface="Microsoft YaHei"/>
              </a:defRPr>
            </a:pPr>
            <a:r>
              <a:t>1.2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96542" y="1684401"/>
            <a:ext cx="546811" cy="2540127"/>
          </a:xfrm>
          <a:prstGeom prst="rect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6814" y="1410081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627089"/>
                </a:solidFill>
                <a:latin typeface="Microsoft YaHei"/>
              </a:defRPr>
            </a:pPr>
            <a:r>
              <a:t>1.130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537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Persistence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8102" y="3680536"/>
            <a:ext cx="546811" cy="543991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8374" y="3406216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31B57A"/>
                </a:solidFill>
                <a:latin typeface="Microsoft YaHei"/>
              </a:defRPr>
            </a:pPr>
            <a:r>
              <a:t>0.242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4693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Recent slope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99662" y="3754716"/>
            <a:ext cx="546811" cy="469811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89934" y="3480396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3478F6"/>
                </a:solidFill>
                <a:latin typeface="Microsoft YaHei"/>
              </a:defRPr>
            </a:pPr>
            <a:r>
              <a:t>0.209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9849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ElasticNet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51222" y="3912069"/>
            <a:ext cx="546811" cy="312458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41494" y="3637749"/>
            <a:ext cx="766267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1">
                <a:solidFill>
                  <a:srgbClr val="7656D6"/>
                </a:solidFill>
                <a:latin typeface="Microsoft YaHei"/>
              </a:defRPr>
            </a:pPr>
            <a:r>
              <a:t>0.139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0054" y="4315968"/>
            <a:ext cx="949147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70" b="0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389888"/>
            <a:ext cx="1554480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1481328"/>
            <a:ext cx="1463039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9248" y="1389888"/>
            <a:ext cx="713232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44968" y="1481328"/>
            <a:ext cx="62179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MAE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389888"/>
            <a:ext cx="960120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481328"/>
            <a:ext cx="868680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Median AE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72600" y="1389888"/>
            <a:ext cx="713232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1481328"/>
            <a:ext cx="621792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RMSE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85832" y="1389888"/>
            <a:ext cx="694944" cy="576072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31552" y="1481328"/>
            <a:ext cx="603504" cy="4297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R²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44768" y="1965960"/>
            <a:ext cx="1554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90488" y="2039112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Persistence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99248" y="1965960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44968" y="2039112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1.130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12480" y="1965960"/>
            <a:ext cx="960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58200" y="2039112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0.882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72600" y="1965960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418320" y="2039112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1.355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85832" y="1965960"/>
            <a:ext cx="694944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31552" y="2039112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−2.273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44768" y="2542032"/>
            <a:ext cx="1554480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90488" y="2615184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Recent slope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699248" y="2542032"/>
            <a:ext cx="713232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44968" y="2615184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0.242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2542032"/>
            <a:ext cx="960120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58200" y="2615184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0.137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372600" y="2542032"/>
            <a:ext cx="713232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18320" y="2615184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0.448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085832" y="2542032"/>
            <a:ext cx="694944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31552" y="2615184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0.642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44768" y="3118104"/>
            <a:ext cx="155448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190488" y="3191256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ElasticNet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699248" y="3118104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44968" y="3191256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0.209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12480" y="3118104"/>
            <a:ext cx="960120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8200" y="3191256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0.121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372600" y="3118104"/>
            <a:ext cx="713232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418320" y="3191256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0.362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85832" y="3118104"/>
            <a:ext cx="694944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31552" y="3191256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0.766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44768" y="3694176"/>
            <a:ext cx="1554480" cy="576072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90488" y="3767328"/>
            <a:ext cx="1463039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699248" y="3694176"/>
            <a:ext cx="713232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44968" y="3767328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0.139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12480" y="3694176"/>
            <a:ext cx="960120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458200" y="3767328"/>
            <a:ext cx="868680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0.058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372600" y="3694176"/>
            <a:ext cx="713232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418320" y="3767328"/>
            <a:ext cx="62179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0.284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085832" y="3694176"/>
            <a:ext cx="694944" cy="576072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131552" y="3767328"/>
            <a:ext cx="603504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0.856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6656832" y="4361688"/>
            <a:ext cx="4343400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02552" y="4389120"/>
            <a:ext cx="4251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172033"/>
                </a:solidFill>
                <a:latin typeface="Microsoft YaHei"/>
              </a:defRPr>
            </a:pPr>
            <a:r>
              <a:t>16 conditions · 48 cells · 1,134 snapshots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8368" y="5065776"/>
            <a:ext cx="10716768" cy="749808"/>
          </a:xfrm>
          <a:prstGeom prst="roundRect">
            <a:avLst/>
          </a:prstGeom>
          <a:solidFill>
            <a:srgbClr val="EAF8F1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86968" y="5276088"/>
            <a:ext cx="10259568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31B57A"/>
                </a:solidFill>
                <a:latin typeface="Microsoft YaHei"/>
              </a:defRPr>
            </a:pPr>
            <a:r>
              <a:t>描述性结论：Calendar development OOF 中，HGB 的 MAE 最低（0.139 pp）。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8368" y="5989320"/>
            <a:ext cx="1071676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50" b="1">
                <a:solidFill>
                  <a:srgbClr val="E45B5B"/>
                </a:solidFill>
                <a:latin typeface="Microsoft YaHei"/>
              </a:defRPr>
            </a:pPr>
            <a:r>
              <a:t>不能推导为 protected-test 或真实车队性能。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结果 · CYCLIC /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14. Cyclic 与 driving profile：简单趋势线更难打败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389888"/>
            <a:ext cx="256032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81328"/>
            <a:ext cx="2468879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方法</a:t>
            </a:r>
          </a:p>
        </p:txBody>
      </p:sp>
      <p:sp>
        <p:nvSpPr>
          <p:cNvPr id="7" name="Rectangle 6"/>
          <p:cNvSpPr/>
          <p:nvPr/>
        </p:nvSpPr>
        <p:spPr>
          <a:xfrm>
            <a:off x="3218687" y="1389888"/>
            <a:ext cx="192024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64407" y="1481328"/>
            <a:ext cx="1828800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Cyclic MAE</a:t>
            </a:r>
          </a:p>
        </p:txBody>
      </p:sp>
      <p:sp>
        <p:nvSpPr>
          <p:cNvPr id="9" name="Rectangle 8"/>
          <p:cNvSpPr/>
          <p:nvPr/>
        </p:nvSpPr>
        <p:spPr>
          <a:xfrm>
            <a:off x="5138927" y="1389888"/>
            <a:ext cx="2560320" cy="640080"/>
          </a:xfrm>
          <a:prstGeom prst="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84647" y="1481328"/>
            <a:ext cx="2468879" cy="493775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Driving profile MAE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29967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103120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Persistence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18687" y="2029967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7" y="2103120"/>
            <a:ext cx="18288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9.448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7" y="2029967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7" y="2103120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6.051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670048"/>
            <a:ext cx="256032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743200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Recent slope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18687" y="2670048"/>
            <a:ext cx="1920240" cy="640080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7" y="2743200"/>
            <a:ext cx="18288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5.026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38927" y="2670048"/>
            <a:ext cx="2560320" cy="640080"/>
          </a:xfrm>
          <a:prstGeom prst="rect">
            <a:avLst/>
          </a:prstGeom>
          <a:solidFill>
            <a:srgbClr val="EAF8F1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7" y="2743200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1">
                <a:solidFill>
                  <a:srgbClr val="31B57A"/>
                </a:solidFill>
                <a:latin typeface="Microsoft YaHei"/>
              </a:defRPr>
            </a:pPr>
            <a:r>
              <a:t>2.988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310127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3383279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ElasticNet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18687" y="3310127"/>
            <a:ext cx="19202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64407" y="3383279"/>
            <a:ext cx="18288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5.113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38927" y="3310127"/>
            <a:ext cx="25603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84647" y="3383279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4.791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3950208"/>
            <a:ext cx="256032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023360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HGB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18687" y="3950208"/>
            <a:ext cx="192024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64407" y="4023360"/>
            <a:ext cx="1828800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5.809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38927" y="3950208"/>
            <a:ext cx="2560320" cy="640080"/>
          </a:xfrm>
          <a:prstGeom prst="rect">
            <a:avLst/>
          </a:prstGeom>
          <a:solidFill>
            <a:srgbClr val="F0F4F9"/>
          </a:solidFill>
          <a:ln w="635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84647" y="4023360"/>
            <a:ext cx="2468879" cy="512063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919" b="0">
                <a:solidFill>
                  <a:srgbClr val="172033"/>
                </a:solidFill>
                <a:latin typeface="Microsoft YaHei"/>
              </a:defRPr>
            </a:pPr>
            <a:r>
              <a:t>4.239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1389888"/>
            <a:ext cx="4069080" cy="3200400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16952" y="1719072"/>
            <a:ext cx="3547872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C2D1"/>
                </a:solidFill>
                <a:latin typeface="Microsoft YaHei"/>
              </a:defRPr>
            </a:pPr>
            <a:r>
              <a:t>RECENT SLOPE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26096" y="2304288"/>
            <a:ext cx="352958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5.026 pp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6096" y="2779776"/>
            <a:ext cx="35295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FC1D5"/>
                </a:solidFill>
                <a:latin typeface="Microsoft YaHei"/>
              </a:defRPr>
            </a:pPr>
            <a:r>
              <a:t>CYCLIC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3227832"/>
            <a:ext cx="2880360" cy="9144"/>
          </a:xfrm>
          <a:prstGeom prst="rect">
            <a:avLst/>
          </a:prstGeom>
          <a:solidFill>
            <a:srgbClr val="3750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26096" y="3493008"/>
            <a:ext cx="3529584" cy="42062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2.988 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6096" y="3968496"/>
            <a:ext cx="352958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00" b="0">
                <a:solidFill>
                  <a:srgbClr val="AFC1D5"/>
                </a:solidFill>
                <a:latin typeface="Microsoft YaHei"/>
              </a:defRPr>
            </a:pPr>
            <a:r>
              <a:t>DRIVING PROFILE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4727448"/>
            <a:ext cx="5230368" cy="987552"/>
          </a:xfrm>
          <a:prstGeom prst="roundRect">
            <a:avLst/>
          </a:prstGeom>
          <a:solidFill>
            <a:srgbClr val="EAF8F1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58368" y="4727448"/>
            <a:ext cx="64008" cy="987552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8680" y="4892040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CYCLIC 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5321808"/>
            <a:ext cx="484632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35 conditions · 99 cells · 1,190 snapshots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90488" y="4727448"/>
            <a:ext cx="5239512" cy="987552"/>
          </a:xfrm>
          <a:prstGeom prst="roundRect">
            <a:avLst/>
          </a:prstGeom>
          <a:solidFill>
            <a:srgbClr val="F1EEFB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90488" y="4727448"/>
            <a:ext cx="64008" cy="987552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892040"/>
            <a:ext cx="4855464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PROFILE SUPPORT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5321808"/>
            <a:ext cx="4855464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11 conditions · 33 cells · 595 snapshots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5961888"/>
            <a:ext cx="10771632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2A93B"/>
                </a:solidFill>
                <a:latin typeface="Microsoft YaHei"/>
              </a:defRPr>
            </a:pPr>
            <a:r>
              <a:t>当前固定输入和模型尚未稳定超过简单局部趋势。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结果解释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15. 为什么没有一个“通用赢家”？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85800" y="1389888"/>
            <a:ext cx="475488" cy="475488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99616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5024" y="1353312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模式不同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353312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Calendar 主要随时间；cyclic/profile 更可能局部突变。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240280"/>
            <a:ext cx="475488" cy="475488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50008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2203704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指标冲突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203704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Cyclic：ElasticNet R² 0.367 &gt; slope 0.169；MAE 5.113 &gt; 5.026。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3090672"/>
            <a:ext cx="475488" cy="475488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054096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支持有限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054096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Profile 只有 11 个 eligible conditions。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3941063"/>
            <a:ext cx="475488" cy="475488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050791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904487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H3 跨度不同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904487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三次 check-up 跨过的 days/EFC 并不一致。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791456"/>
            <a:ext cx="475488" cy="475488"/>
          </a:xfrm>
          <a:prstGeom prst="ellipse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01184"/>
            <a:ext cx="47548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024" y="4754880"/>
            <a:ext cx="18288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协议锁定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754880"/>
            <a:ext cx="8275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627089"/>
                </a:solidFill>
                <a:latin typeface="Microsoft YaHei"/>
              </a:defRPr>
            </a:pPr>
            <a:r>
              <a:t>selection_performed=false；没有 champion 或 ensemble。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05856"/>
            <a:ext cx="10753344" cy="585216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870448"/>
            <a:ext cx="1033272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150" b="1">
                <a:solidFill>
                  <a:srgbClr val="FFFFFF"/>
                </a:solidFill>
                <a:latin typeface="Microsoft YaHei"/>
              </a:defRPr>
            </a:pPr>
            <a:r>
              <a:t>按模式描述 development OOF，不把局部低分包装成全局模型。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证据边界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16. 这些结果不能证明什么？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59" y="1554480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636776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protected / external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5" y="1371600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98847" y="1554480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7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94375" y="1636776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publication / resume approval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371600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74736" y="1554480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0456" y="1581912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4" y="1636776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O2 / failure classification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2724912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59" y="2907792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2935224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18488" y="2990088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EIS / D_CORE / pulse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5" y="2724912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98847" y="2907792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7" y="2935224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94375" y="2990088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RUL / prediction interval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10144" y="2724912"/>
            <a:ext cx="338328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74736" y="2907792"/>
            <a:ext cx="685800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0456" y="2935224"/>
            <a:ext cx="5943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0264" y="2990088"/>
            <a:ext cx="214884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maintenance / production proof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361688"/>
            <a:ext cx="10744200" cy="1143000"/>
          </a:xfrm>
          <a:prstGeom prst="roundRect">
            <a:avLst/>
          </a:prstGeom>
          <a:solidFill>
            <a:srgbClr val="2A1C25"/>
          </a:solidFill>
          <a:ln w="12700">
            <a:solidFill>
              <a:srgbClr val="2A1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6112" y="4590288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2A93B"/>
                </a:solidFill>
                <a:latin typeface="Microsoft YaHei"/>
              </a:defRPr>
            </a:pPr>
            <a:r>
              <a:t>scientific_result = false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590288"/>
            <a:ext cx="30632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2A93B"/>
                </a:solidFill>
                <a:latin typeface="Microsoft YaHei"/>
              </a:defRPr>
            </a:pPr>
            <a:r>
              <a:t>formal_model_result = 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4927" y="4590288"/>
            <a:ext cx="352044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F2A93B"/>
                </a:solidFill>
                <a:latin typeface="Microsoft YaHei"/>
              </a:defRPr>
            </a:pPr>
            <a:r>
              <a:t>publication_ready = false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5824728"/>
            <a:ext cx="10744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E45B5B"/>
                </a:solidFill>
                <a:latin typeface="Microsoft YaHei"/>
              </a:defRPr>
            </a:pPr>
            <a:r>
              <a:t>最低 development MAE ≠ 最终 champion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产品表达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17. UI 应该怎样表达，而不是制造确定性？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228-cell roster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选择 ageing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沿 check-up 回放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当前 SoH + 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H3 prediction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627632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478F6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93808" y="1444752"/>
            <a:ext cx="1517904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517904"/>
            <a:ext cx="1371600" cy="6766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69" b="1">
                <a:solidFill>
                  <a:srgbClr val="172033"/>
                </a:solidFill>
                <a:latin typeface="Microsoft YaHei"/>
              </a:defRPr>
            </a:pPr>
            <a:r>
              <a:t>truth 到期解锁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60904"/>
            <a:ext cx="10753344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2926080"/>
            <a:ext cx="192024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3478F6"/>
                </a:solidFill>
                <a:latin typeface="Microsoft YaHei"/>
              </a:defRPr>
            </a:pPr>
            <a:r>
              <a:t>PAST / AVAILABLE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3566160"/>
            <a:ext cx="9994392" cy="9144"/>
          </a:xfrm>
          <a:prstGeom prst="rect">
            <a:avLst/>
          </a:prstGeom>
          <a:solidFill>
            <a:srgbClr val="DC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" y="3401568"/>
            <a:ext cx="329184" cy="329184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t−2</a:t>
            </a:r>
          </a:p>
        </p:txBody>
      </p:sp>
      <p:sp>
        <p:nvSpPr>
          <p:cNvPr id="27" name="Oval 26"/>
          <p:cNvSpPr/>
          <p:nvPr/>
        </p:nvSpPr>
        <p:spPr>
          <a:xfrm>
            <a:off x="2862072" y="3401568"/>
            <a:ext cx="329184" cy="329184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78024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t−1</a:t>
            </a:r>
          </a:p>
        </p:txBody>
      </p:sp>
      <p:sp>
        <p:nvSpPr>
          <p:cNvPr id="29" name="Oval 28"/>
          <p:cNvSpPr/>
          <p:nvPr/>
        </p:nvSpPr>
        <p:spPr>
          <a:xfrm>
            <a:off x="4764024" y="3401568"/>
            <a:ext cx="329184" cy="329184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79976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1B57A"/>
                </a:solidFill>
                <a:latin typeface="Microsoft YaHei"/>
              </a:defRPr>
            </a:pPr>
            <a:r>
              <a:t>t NOW</a:t>
            </a:r>
          </a:p>
        </p:txBody>
      </p:sp>
      <p:sp>
        <p:nvSpPr>
          <p:cNvPr id="31" name="Oval 30"/>
          <p:cNvSpPr/>
          <p:nvPr/>
        </p:nvSpPr>
        <p:spPr>
          <a:xfrm>
            <a:off x="6665976" y="3401568"/>
            <a:ext cx="329184" cy="329184"/>
          </a:xfrm>
          <a:prstGeom prst="ellipse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81928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27089"/>
                </a:solidFill>
                <a:latin typeface="Microsoft YaHei"/>
              </a:defRPr>
            </a:pPr>
            <a:r>
              <a:t>t+1</a:t>
            </a:r>
          </a:p>
        </p:txBody>
      </p:sp>
      <p:sp>
        <p:nvSpPr>
          <p:cNvPr id="33" name="Oval 32"/>
          <p:cNvSpPr/>
          <p:nvPr/>
        </p:nvSpPr>
        <p:spPr>
          <a:xfrm>
            <a:off x="8567928" y="3401568"/>
            <a:ext cx="329184" cy="329184"/>
          </a:xfrm>
          <a:prstGeom prst="ellipse">
            <a:avLst/>
          </a:prstGeom>
          <a:solidFill>
            <a:srgbClr val="627089"/>
          </a:solidFill>
          <a:ln w="12700">
            <a:solidFill>
              <a:srgbClr val="6270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80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627089"/>
                </a:solidFill>
                <a:latin typeface="Microsoft YaHei"/>
              </a:defRPr>
            </a:pPr>
            <a:r>
              <a:t>t+2</a:t>
            </a:r>
          </a:p>
        </p:txBody>
      </p:sp>
      <p:sp>
        <p:nvSpPr>
          <p:cNvPr id="35" name="Oval 34"/>
          <p:cNvSpPr/>
          <p:nvPr/>
        </p:nvSpPr>
        <p:spPr>
          <a:xfrm>
            <a:off x="10469880" y="3401568"/>
            <a:ext cx="329184" cy="329184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85832" y="3840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7656D6"/>
                </a:solidFill>
                <a:latin typeface="Microsoft YaHei"/>
              </a:defRPr>
            </a:pPr>
            <a:r>
              <a:t>t+3 TRUTH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2907792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31B57A"/>
                </a:solidFill>
                <a:latin typeface="Microsoft YaHei"/>
              </a:defRPr>
            </a:pPr>
            <a:r>
              <a:t>prediction issued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2907792"/>
            <a:ext cx="201168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900" b="1">
                <a:solidFill>
                  <a:srgbClr val="7656D6"/>
                </a:solidFill>
                <a:latin typeface="Microsoft YaHei"/>
              </a:defRPr>
            </a:pPr>
            <a:r>
              <a:t>truth locked until available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2688" y="5193792"/>
            <a:ext cx="2212848" cy="310896"/>
          </a:xfrm>
          <a:prstGeom prst="roundRect">
            <a:avLst/>
          </a:prstGeom>
          <a:solidFill>
            <a:srgbClr val="FFF5E4"/>
          </a:solidFill>
          <a:ln w="12700">
            <a:solidFill>
              <a:srgbClr val="FFF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8408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2A93B"/>
                </a:solidFill>
                <a:latin typeface="Microsoft YaHei"/>
              </a:defRPr>
            </a:pPr>
            <a:r>
              <a:t>insufficient_history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29000" y="5193792"/>
            <a:ext cx="2212848" cy="310896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FD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474720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E45B5B"/>
                </a:solidFill>
                <a:latin typeface="Microsoft YaHei"/>
              </a:defRPr>
            </a:pPr>
            <a:r>
              <a:t>no_h3_followup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925312" y="5193792"/>
            <a:ext cx="2212848" cy="310896"/>
          </a:xfrm>
          <a:prstGeom prst="roundRect">
            <a:avLst/>
          </a:prstGeom>
          <a:solidFill>
            <a:srgbClr val="E8F9FA"/>
          </a:solidFill>
          <a:ln w="12700">
            <a:solidFill>
              <a:srgbClr val="E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71032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3478F6"/>
                </a:solidFill>
                <a:latin typeface="Microsoft YaHei"/>
              </a:defRPr>
            </a:pPr>
            <a:r>
              <a:t>development replay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21624" y="5193792"/>
            <a:ext cx="2212848" cy="310896"/>
          </a:xfrm>
          <a:prstGeom prst="roundRect">
            <a:avLst/>
          </a:prstGeom>
          <a:solidFill>
            <a:srgbClr val="EFEAF8"/>
          </a:solidFill>
          <a:ln w="12700">
            <a:solidFill>
              <a:srgbClr val="EFE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67344" y="5221224"/>
            <a:ext cx="2121408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7656D6"/>
                </a:solidFill>
                <a:latin typeface="Microsoft YaHei"/>
              </a:defRPr>
            </a:pPr>
            <a:r>
              <a:t>final mode disabled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897880"/>
            <a:ext cx="1075334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172033"/>
                </a:solidFill>
                <a:latin typeface="Microsoft YaHei"/>
              </a:defRPr>
            </a:pPr>
            <a:r>
              <a:t>UI 必须区分预测、实测 truth 与不可用状态；不能制造“数字孪生”确定性。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业务价值假设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18. 如果未来验证通过，业务上怎么用？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scheduled check-up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76272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78608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future-loss estimate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2544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evidence packet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prioritize retest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7536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engineering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64624" y="1572768"/>
            <a:ext cx="329184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31B57A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93808" y="1389888"/>
            <a:ext cx="1517904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1463040"/>
            <a:ext cx="13716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  <a:defRPr sz="880" b="1">
                <a:solidFill>
                  <a:srgbClr val="172033"/>
                </a:solidFill>
                <a:latin typeface="Microsoft YaHei"/>
              </a:defRPr>
            </a:pPr>
            <a:r>
              <a:t>human decision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06040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606040"/>
            <a:ext cx="64008" cy="1024128"/>
          </a:xfrm>
          <a:prstGeom prst="rect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277063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200400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把注意力放在快速衰减或证据异常电芯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2606040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2606040"/>
            <a:ext cx="64008" cy="1024128"/>
          </a:xfrm>
          <a:prstGeom prst="rect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2770632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同时呈现 current health、future estimate、数据质量与来源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3904487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58368" y="3904487"/>
            <a:ext cx="64008" cy="1024128"/>
          </a:xfrm>
          <a:prstGeom prst="rect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069079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498848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记录每次复测、审查和人工决定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44768" y="3904487"/>
            <a:ext cx="5230368" cy="102412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904487"/>
            <a:ext cx="64008" cy="1024128"/>
          </a:xfrm>
          <a:prstGeom prst="rect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80" y="4069079"/>
            <a:ext cx="4846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172033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4498848"/>
            <a:ext cx="4846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19" b="0">
                <a:solidFill>
                  <a:srgbClr val="627089"/>
                </a:solidFill>
                <a:latin typeface="Microsoft YaHei"/>
              </a:defRPr>
            </a:pPr>
            <a:r>
              <a:t>用 missed cases、review burden、lead time、成本做前瞻评估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404104"/>
            <a:ext cx="10735056" cy="603504"/>
          </a:xfrm>
          <a:prstGeom prst="roundRect">
            <a:avLst/>
          </a:prstGeom>
          <a:solidFill>
            <a:srgbClr val="FDEEEE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" y="5568696"/>
            <a:ext cx="10314432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150" b="1">
                <a:solidFill>
                  <a:srgbClr val="E45B5B"/>
                </a:solidFill>
                <a:latin typeface="Microsoft YaHei"/>
              </a:defRPr>
            </a:pPr>
            <a:r>
              <a:t>模型不直接换电池；“是否省钱、是否少漏检”都尚未验证。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下一轮实验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172033"/>
                </a:solidFill>
                <a:latin typeface="Microsoft YaHei"/>
              </a:defRPr>
            </a:pPr>
            <a:r>
              <a:t>19. 下一轮最值得做的实验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344168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7" y="1572768"/>
            <a:ext cx="502920" cy="502920"/>
          </a:xfrm>
          <a:prstGeom prst="ellipse">
            <a:avLst/>
          </a:prstGeom>
          <a:solidFill>
            <a:srgbClr val="E45B5B"/>
          </a:solidFill>
          <a:ln w="12700">
            <a:solidFill>
              <a:srgbClr val="E4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7099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6192" y="150876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错误分析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36192" y="1920240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解释 slope 胜出的 conditions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1344168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27648" y="1572768"/>
            <a:ext cx="502920" cy="502920"/>
          </a:xfrm>
          <a:prstGeom prst="ellipse">
            <a:avLst/>
          </a:prstGeom>
          <a:solidFill>
            <a:srgbClr val="3478F6"/>
          </a:solidFill>
          <a:ln w="12700"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709928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1508760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Horizon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1920240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新 protocol 下比较 H1/H3/H5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788920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7" y="3017520"/>
            <a:ext cx="502920" cy="502920"/>
          </a:xfrm>
          <a:prstGeom prst="ellipse">
            <a:avLst/>
          </a:prstGeom>
          <a:solidFill>
            <a:srgbClr val="7656D6"/>
          </a:solidFill>
          <a:ln w="12700">
            <a:solidFill>
              <a:srgbClr val="7656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7" y="3154679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95351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EIS incremental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364991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同 snapshot / fold / model 比 B vs D_CORE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4768" y="2788920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27648" y="3017520"/>
            <a:ext cx="502920" cy="50292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27648" y="3154679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2592" y="2953512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变量稳定性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3364991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condition-grouped inner CV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4233672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1247" y="4462272"/>
            <a:ext cx="502920" cy="5029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36192" y="439826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外部验证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809744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冻结后申请一次 protected evaluation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44768" y="4233672"/>
            <a:ext cx="5230368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327648" y="4462272"/>
            <a:ext cx="502920" cy="502920"/>
          </a:xfrm>
          <a:prstGeom prst="ellipse">
            <a:avLst/>
          </a:prstGeom>
          <a:solidFill>
            <a:srgbClr val="27C2D1"/>
          </a:solidFill>
          <a:ln w="12700">
            <a:solidFill>
              <a:srgbClr val="27C2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27648" y="459943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85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2" y="4398264"/>
            <a:ext cx="21031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172033"/>
                </a:solidFill>
                <a:latin typeface="Microsoft YaHei"/>
              </a:defRPr>
            </a:pPr>
            <a:r>
              <a:t>O2 / noise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2" y="4809744"/>
            <a:ext cx="4041648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627089"/>
                </a:solidFill>
                <a:latin typeface="Microsoft YaHei"/>
              </a:defRPr>
            </a:pPr>
            <a:r>
              <a:t>先取得 capacity technical repeats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806440"/>
            <a:ext cx="10735056" cy="438912"/>
          </a:xfrm>
          <a:prstGeom prst="roundRect">
            <a:avLst/>
          </a:prstGeom>
          <a:solidFill>
            <a:srgbClr val="0B1628"/>
          </a:solidFill>
          <a:ln w="12700">
            <a:solidFill>
              <a:srgbClr val="0B16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" y="5907024"/>
            <a:ext cx="10332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先解释失败模式，再检验 EIS 增量，最后讨论选择、告警与部署。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"/>
            <a:ext cx="210312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850" b="1">
                <a:solidFill>
                  <a:srgbClr val="27C2D1"/>
                </a:solidFill>
                <a:latin typeface="Microsoft YaHei"/>
              </a:defRPr>
            </a:pPr>
            <a: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20. 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60704"/>
            <a:ext cx="11091672" cy="9144"/>
          </a:xfrm>
          <a:prstGeom prst="rect">
            <a:avLst/>
          </a:prstGeom>
          <a:solidFill>
            <a:srgbClr val="27C2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44168"/>
            <a:ext cx="5486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我们完成了一个可审计的第一步</a:t>
            </a:r>
          </a:p>
        </p:txBody>
      </p:sp>
      <p:sp>
        <p:nvSpPr>
          <p:cNvPr id="6" name="Oval 5"/>
          <p:cNvSpPr/>
          <p:nvPr/>
        </p:nvSpPr>
        <p:spPr>
          <a:xfrm>
            <a:off x="713232" y="2066544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84832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993392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228 cells / 76 conditions inventory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688336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706624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615184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exact-H3 target + prefix-only B view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3310128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328416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" y="3236976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18-fit condition-held-out development run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931920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950208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3858768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2,919 snapshots · 11,676 OOF rows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4553712"/>
            <a:ext cx="228600" cy="228600"/>
          </a:xfrm>
          <a:prstGeom prst="ellipse">
            <a:avLst/>
          </a:prstGeom>
          <a:solidFill>
            <a:srgbClr val="31B57A"/>
          </a:solidFill>
          <a:ln w="12700">
            <a:solidFill>
              <a:srgbClr val="31B5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572000"/>
            <a:ext cx="2286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7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" y="4480560"/>
            <a:ext cx="4846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按模式出现不同描述性最佳方法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65392" y="1353312"/>
            <a:ext cx="4919472" cy="3520440"/>
          </a:xfrm>
          <a:prstGeom prst="roundRect">
            <a:avLst/>
          </a:prstGeom>
          <a:solidFill>
            <a:srgbClr val="18273D"/>
          </a:solidFill>
          <a:ln w="12700">
            <a:solidFill>
              <a:srgbClr val="2C45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664208"/>
            <a:ext cx="4242816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F2A93B"/>
                </a:solidFill>
                <a:latin typeface="Microsoft YaHei"/>
              </a:defRPr>
            </a:pPr>
            <a:r>
              <a:t>仍未完成</a:t>
            </a:r>
          </a:p>
        </p:txBody>
      </p:sp>
      <p:sp>
        <p:nvSpPr>
          <p:cNvPr id="23" name="Oval 22"/>
          <p:cNvSpPr/>
          <p:nvPr/>
        </p:nvSpPr>
        <p:spPr>
          <a:xfrm>
            <a:off x="6967728" y="2368296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32904" y="2267712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protected test</a:t>
            </a:r>
          </a:p>
        </p:txBody>
      </p:sp>
      <p:sp>
        <p:nvSpPr>
          <p:cNvPr id="25" name="Oval 24"/>
          <p:cNvSpPr/>
          <p:nvPr/>
        </p:nvSpPr>
        <p:spPr>
          <a:xfrm>
            <a:off x="6967728" y="2761488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32904" y="2660904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模型选择</a:t>
            </a:r>
          </a:p>
        </p:txBody>
      </p:sp>
      <p:sp>
        <p:nvSpPr>
          <p:cNvPr id="27" name="Oval 26"/>
          <p:cNvSpPr/>
          <p:nvPr/>
        </p:nvSpPr>
        <p:spPr>
          <a:xfrm>
            <a:off x="6967728" y="3154679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32904" y="3054096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EIS incremental</a:t>
            </a:r>
          </a:p>
        </p:txBody>
      </p:sp>
      <p:sp>
        <p:nvSpPr>
          <p:cNvPr id="29" name="Oval 28"/>
          <p:cNvSpPr/>
          <p:nvPr/>
        </p:nvSpPr>
        <p:spPr>
          <a:xfrm>
            <a:off x="6967728" y="3547872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32904" y="3447288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O2 告警</a:t>
            </a:r>
          </a:p>
        </p:txBody>
      </p:sp>
      <p:sp>
        <p:nvSpPr>
          <p:cNvPr id="31" name="Oval 30"/>
          <p:cNvSpPr/>
          <p:nvPr/>
        </p:nvSpPr>
        <p:spPr>
          <a:xfrm>
            <a:off x="6967728" y="3941064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3840480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生产影响</a:t>
            </a:r>
          </a:p>
        </p:txBody>
      </p:sp>
      <p:sp>
        <p:nvSpPr>
          <p:cNvPr id="33" name="Oval 32"/>
          <p:cNvSpPr/>
          <p:nvPr/>
        </p:nvSpPr>
        <p:spPr>
          <a:xfrm>
            <a:off x="6967728" y="4334256"/>
            <a:ext cx="118872" cy="118872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32904" y="4233672"/>
            <a:ext cx="36118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FFFFFF"/>
                </a:solidFill>
                <a:latin typeface="Microsoft YaHei"/>
              </a:defRPr>
            </a:pPr>
            <a:r>
              <a:t>公开发布批准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385816"/>
            <a:ext cx="10789920" cy="685800"/>
          </a:xfrm>
          <a:prstGeom prst="roundRect">
            <a:avLst/>
          </a:prstGeom>
          <a:solidFill>
            <a:srgbClr val="112F43"/>
          </a:solidFill>
          <a:ln w="12700">
            <a:solidFill>
              <a:srgbClr val="112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27C2D1"/>
                </a:solidFill>
                <a:latin typeface="Microsoft YaHei"/>
              </a:defRPr>
            </a:pPr>
            <a:r>
              <a:t>可靠的研究结论，有时是知道简单方法在哪里更强。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510528"/>
            <a:ext cx="859536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627089"/>
                </a:solidFill>
                <a:latin typeface="Microsoft YaHei"/>
              </a:defRPr>
            </a:pPr>
            <a:r>
              <a:t>DEVELOPMENT OOF  ·  B-ONLY  ·  NO PROTECTED TEST  ·  NO SELECTION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6483096"/>
            <a:ext cx="8686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  <a:defRPr sz="800" b="0">
                <a:solidFill>
                  <a:srgbClr val="627089"/>
                </a:solidFill>
                <a:latin typeface="Microsoft YaHe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电池衰减预警：KIT B-only development OOF 研究</dc:title>
  <dc:subject>21-slide research seminar; development evidence only</dc:subject>
  <dc:creator>Lu Zhang</dc:creator>
  <cp:keywords/>
  <dc:description>Generated from docs/slides/battery-early-warning-research-seminar.md; DEVELOPMENT OOF, B-only, no protected test, no selection.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