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5" Type="http://schemas.openxmlformats.org/officeDocument/2006/relationships/viewProps" Target="viewProps.xml" /><Relationship Id="rId2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7" Type="http://schemas.openxmlformats.org/officeDocument/2006/relationships/tableStyles" Target="tableStyles.xml" /><Relationship Id="rId2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Battery Degradation Early Warning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leakage-resistant research design using capacity, EIS and operating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Current stage:</a:t>
            </a:r>
            <a:r>
              <a:rPr/>
              <a:t> protocol + synthetic contract implementation</a:t>
            </a:r>
            <a:br/>
            <a:r>
              <a:rPr b="1"/>
              <a:t>No trained KIT model; no prediction result claimed</a:t>
            </a:r>
          </a:p>
          <a:p>
            <a:pPr lvl="0" indent="0" marL="0">
              <a:buNone/>
            </a:pPr>
            <a:r>
              <a:rPr/>
              <a:t>Lu Zhang — independent public-data research project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INTRODUCTION — The operational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Today's check-up        What we want to know               Human decision
capacity + EIS    -&gt;    future degradation risk     -&gt;    monitor / inspect / service
history + context       conditional remaining life         with evidence</a:t>
            </a:r>
          </a:p>
          <a:p>
            <a:pPr lvl="0"/>
            <a:r>
              <a:rPr/>
              <a:t>Capacity loss and impedance growth affect useful battery life.</a:t>
            </a:r>
          </a:p>
          <a:p>
            <a:pPr lvl="0"/>
            <a:r>
              <a:rPr/>
              <a:t>A current measurement describes now; maintenance needs evidence about what may happen next.</a:t>
            </a:r>
          </a:p>
          <a:p>
            <a:pPr lvl="0"/>
            <a:r>
              <a:rPr/>
              <a:t>The research unit is a physical battery cell—not a spectrum or frequency row.</a:t>
            </a:r>
          </a:p>
          <a:p>
            <a:pPr lvl="0"/>
            <a:r>
              <a:rPr/>
              <a:t>Scope: degradation and capacity-defined end of life.</a:t>
            </a:r>
          </a:p>
          <a:p>
            <a:pPr lvl="0"/>
            <a:r>
              <a:rPr/>
              <a:t>Not in scope: thermal runaway, fire or every sudden field failure.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PURPOSE — Four research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Will the cell degrade rapidly over the next registered horizon?</a:t>
            </a:r>
          </a:p>
          <a:p>
            <a:pPr lvl="0" indent="-342900" marL="342900">
              <a:buAutoNum type="arabicPeriod"/>
            </a:pPr>
            <a:r>
              <a:rPr/>
              <a:t>Will it cross a declared capacity threshold soon?</a:t>
            </a:r>
          </a:p>
          <a:p>
            <a:pPr lvl="0" indent="-342900" marL="342900">
              <a:buAutoNum type="arabicPeriod"/>
            </a:pPr>
            <a:r>
              <a:rPr/>
              <a:t>Will it begin to diverge from cells under the same condition?</a:t>
            </a:r>
          </a:p>
          <a:p>
            <a:pPr lvl="0" indent="-342900" marL="342900">
              <a:buAutoNum type="arabicPeriod"/>
            </a:pPr>
            <a:r>
              <a:rPr/>
              <a:t>How much useful exposure remains </a:t>
            </a:r>
            <a:r>
              <a:rPr b="1"/>
              <a:t>if the declared use condition continues</a:t>
            </a:r>
            <a:r>
              <a:rPr/>
              <a:t>?</a:t>
            </a:r>
          </a:p>
          <a:p>
            <a:pPr lvl="0" indent="0" marL="0">
              <a:buNone/>
            </a:pPr>
            <a:r>
              <a:rPr/>
              <a:t>Main incremental-value question:</a:t>
            </a:r>
          </a:p>
          <a:p>
            <a:pPr lvl="0" indent="0">
              <a:buNone/>
            </a:pPr>
            <a:r>
              <a:rPr>
                <a:latin typeface="Courier"/>
              </a:rPr>
              <a:t>capacity history + use/context                 (B)
                 versus
capacity history + use/context + current EIS   (D-core)</a:t>
            </a:r>
          </a:p>
          <a:p>
            <a:pPr lvl="0" indent="0" marL="0">
              <a:buNone/>
            </a:pPr>
            <a:r>
              <a:rPr b="1">
                <a:latin typeface="Courier"/>
              </a:rPr>
              <a:t>D-core</a:t>
            </a:r>
            <a:r>
              <a:rPr b="1"/>
              <a:t> versus </a:t>
            </a:r>
            <a:r>
              <a:rPr b="1">
                <a:latin typeface="Courier"/>
              </a:rPr>
              <a:t>B</a:t>
            </a:r>
            <a:r>
              <a:rPr b="1"/>
              <a:t> isolates what EIS adds.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DATA DESCRIPTION — Origin and hierarchy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KIT version 2 result data, CC BY 4.0</a:t>
            </a:r>
          </a:p>
          <a:p>
            <a:pPr lvl="0" indent="0">
              <a:buNone/>
            </a:pPr>
            <a:r>
              <a:rPr>
                <a:latin typeface="Courier"/>
              </a:rPr>
              <a:t>228 physical cells
  = 76 operating conditions x 3 replicate cells
      -&gt; repeated diagnostic check-ups
          -&gt; capacity + pulse + EIS contexts
              -&gt; one EIS spectrum
                  -&gt; 29 frequency rows (pre-audit observation)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Level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Meaning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Independent sample?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One physical 18650 battery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Yes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Condition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Shared ageing parameters for 3 cells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Primary split group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Check-up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Repeated diagnostic timepoint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No—same cell repeated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Spectrum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EIS at one SoC/temperature context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Frequency row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One complex-impedance point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DESCRIPTION — Three ageing modes and measurements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Between check-ups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Main lifetime coordinate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Calendar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Rest near target voltage/SoC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Days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Cyclic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Controlled repeated charge/discharge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Equivalent full cycles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Profile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Dynamic WLTP-derived demand + recharge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EFC; traceable distance secondary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Measurement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What it contributes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Capacity/EOC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Q0</a:t>
                      </a:r>
                      <a:r>
                        <a:rPr/>
                        <a:t>, current capacity, history and future outcomes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EIS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Complex impedance spectrum at 10/30/50/70/90% SoC, RT and OT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Pulse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Optional resistance/relaxation evidence after audit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Temperature/context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Mode, temperature, voltage/SoC window, rates/profile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Common check-ups make capacity and impedance more comparable across conditions.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PROCEDURE — One prospective experiment from start to finish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1. audit source + lineage
2. choose prediction check-up t
3. build features from measurements completed through t
4. build outcome from strictly later check-ups (label side only)
5. assign whole conditions to development or protected evaluation
6. fit preprocessing, variable selection and model inside development folds
7. calibrate and compare A / B / C / D-core / D-full
8. freeze winner + policy -&gt; authorize one protected test
9. produce evidence packet -&gt; human-reviewed action</a:t>
            </a:r>
          </a:p>
          <a:p>
            <a:pPr lvl="0" indent="0" marL="0">
              <a:buNone/>
            </a:pPr>
            <a:r>
              <a:rPr/>
              <a:t>The scientific experiment is prospective: </a:t>
            </a:r>
            <a:r>
              <a:rPr b="1"/>
              <a:t>what was knowable at check-up </a:t>
            </a:r>
            <a:r>
              <a:rPr b="1">
                <a:latin typeface="Courier"/>
              </a:rPr>
              <a:t>t</a:t>
            </a:r>
            <a:r>
              <a:rPr b="1"/>
              <a:t> predicts what happens after </a:t>
            </a:r>
            <a:r>
              <a:rPr b="1">
                <a:latin typeface="Courier"/>
              </a:rPr>
              <a:t>t</a:t>
            </a:r>
            <a:r>
              <a:rPr/>
              <a:t>. Future observations may construct labels after authorization, but never features or fit.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EDA &amp; PREPROCESSING — Understand first, then freeze the boundary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Planned EDA evidence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Scientific reason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Cell/condition/check-up inventory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Verify cohort and effective sample size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Capacity trajectories with 3 replicates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See degradation shape and peer spread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Nyquist/Bode examples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Check EIS orientation and quality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Frequency/context missingness heatmap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Freeze eligible channels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Event + censoring counts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Decide whether targets are feasible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Exposure distributions by mode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Avoid mixing days, EFC and distance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audit source -&gt; align check-ups -&gt; freeze Q0 -&gt; target-free snapshots
 -&gt; metadata-only condition split -&gt; past inputs | strictly future labels
 -&gt; fold-local missingness/imputation/scaling -&gt; censored follow-up retained</a:t>
            </a:r>
          </a:p>
          <a:p>
            <a:pPr lvl="0" indent="0" marL="0">
              <a:buNone/>
            </a:pPr>
            <a:r>
              <a:rPr b="1"/>
              <a:t>Status:</a:t>
            </a:r>
            <a:r>
              <a:rPr/>
              <a:t> planned EDA artifacts; preprocessing contracts partly implemented on synthetic data only.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FEATURE ENGINEERING &amp; VARIABLE SELECTION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Inputs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Role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Capacity history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Trajectory baseline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A</a:t>
                      </a:r>
                      <a:r>
                        <a:rPr/>
                        <a:t> + use/environment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Strong non-EIS baseline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EIS + use/environment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EIS-centric alternative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D-core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B</a:t>
                      </a:r>
                      <a:r>
                        <a:rPr/>
                        <a:t> + EIS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Primary incremental-EIS test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D-full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D-core</a:t>
                      </a:r>
                      <a:r>
                        <a:rPr/>
                        <a:t> + pulse/temp/quality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Auxiliary-diagnostic ablation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Fold-local selection:</a:t>
            </a:r>
          </a:p>
          <a:p>
            <a:pPr lvl="0" indent="0">
              <a:buNone/>
            </a:pPr>
            <a:r>
              <a:rPr>
                <a:latin typeface="Courier"/>
              </a:rPr>
              <a:t>quality filter -&gt; impute/scale -&gt; constant/correlation screen
               -&gt; optional supervised selection -&gt; model</a:t>
            </a:r>
          </a:p>
          <a:p>
            <a:pPr lvl="0" indent="0" marL="0">
              <a:buNone/>
            </a:pPr>
            <a:r>
              <a:rPr/>
              <a:t>Report selection frequency and importance stability across outer folds.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MODELING &amp; MODEL SELECTION — Complexity must earn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Eligible model ladder</a:t>
            </a:r>
          </a:p>
          <a:p>
            <a:pPr lvl="0"/>
            <a:r>
              <a:rPr/>
              <a:t>Binary warnings: prevalence/rule baseline -&gt; elastic-net logistic -&gt; constrained boosting -&gt; one additional calibrated nonlinear candidate only if independent groups support it.</a:t>
            </a:r>
          </a:p>
          <a:p>
            <a:pPr lvl="0"/>
            <a:r>
              <a:rPr/>
              <a:t>Conditional RUL: empirical survival reference -&gt; regularized Cox/AFT -&gt; tree survival only after censoring and implementation review.</a:t>
            </a:r>
          </a:p>
          <a:p>
            <a:pPr lvl="0" indent="0" marL="0">
              <a:buNone/>
            </a:pPr>
            <a:r>
              <a:rPr b="1"/>
              <a:t>How a winner earns selection in nested held-condition OOF</a:t>
            </a:r>
          </a:p>
          <a:p>
            <a:pPr lvl="0"/>
            <a:r>
              <a:rPr/>
              <a:t>paired gain beyond the preregistered one-standard-error simplicity margin;</a:t>
            </a:r>
          </a:p>
          <a:p>
            <a:pPr lvl="0"/>
            <a:r>
              <a:rPr/>
              <a:t>acceptable calibration, false alerts, misses and worst-mode behavior;</a:t>
            </a:r>
          </a:p>
          <a:p>
            <a:pPr lvl="0"/>
            <a:r>
              <a:rPr/>
              <a:t>stability across conditions, folds and seeds;</a:t>
            </a:r>
          </a:p>
          <a:p>
            <a:pPr lvl="0"/>
            <a:r>
              <a:rPr/>
              <a:t>justified interpretation and compute cost; and</a:t>
            </a:r>
          </a:p>
          <a:p>
            <a:pPr lvl="0"/>
            <a:r>
              <a:rPr/>
              <a:t>for the scientific claim, robust </a:t>
            </a:r>
            <a:r>
              <a:rPr>
                <a:latin typeface="Courier"/>
              </a:rPr>
              <a:t>D-core &gt; B</a:t>
            </a:r>
            <a:r>
              <a:rPr/>
              <a:t> evidence.</a:t>
            </a:r>
          </a:p>
          <a:p>
            <a:pPr lvl="0" indent="0" marL="0">
              <a:buNone/>
            </a:pPr>
            <a:r>
              <a:rPr/>
              <a:t>No primary RUL regressor that discards censored cells. No initial deep model: 228 cells and 76 condition groups are the effective scale. An ensemble requires 3+ complete, diverse same-outcome OOF sets, inner-fold weights, stable calibration and meaningful paired gain; otherwise it is rejected.</a:t>
            </a:r>
          </a:p>
          <a:p>
            <a:pPr lvl="0" indent="0" marL="0">
              <a:buNone/>
            </a:pPr>
            <a:r>
              <a:rPr b="1"/>
              <a:t>Current rationale:</a:t>
            </a:r>
            <a:r>
              <a:rPr/>
              <a:t> </a:t>
            </a:r>
            <a:r>
              <a:rPr>
                <a:latin typeface="Courier"/>
              </a:rPr>
              <a:t>NOT YET SELECTED — AWAITING REVIEWED DEVELOPMENT TRAINING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TRAINING — Planned evidence, not a completed run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Training evidence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Current value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Audited cells/conditions/events/censoring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NOT YET RUN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Outer/inner condition-group folds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NOT YET RUN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Views, candidates and hyperparameter budget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Registered; not executed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Trial runtime/CPU/memory/heartbeat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NOT YET RUN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Convergence, warnings and failures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NOT YET RUN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Data/code/registry/split/model lineage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Awaiting hash-bound run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implemented CLI is a </a:t>
            </a:r>
            <a:r>
              <a:rPr b="1"/>
              <a:t>synthetic contract demo</a:t>
            </a:r>
            <a:r>
              <a:rPr/>
              <a:t>. It does not load KIT, fit a model or satisfy the later real-data monitored training-smoke gate. It executes synthetic </a:t>
            </a:r>
            <a:r>
              <a:rPr>
                <a:latin typeface="Courier"/>
              </a:rPr>
              <a:t>Q0</a:t>
            </a:r>
            <a:r>
              <a:rPr/>
              <a:t>/SoH, the next-three-check-up threshold label and a provisional human-reviewed action; the broader contracts are unit-tested rather than run by this command.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PREDICTION RESULTS — Development packet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Status: </a:t>
            </a:r>
            <a:r>
              <a:rPr b="1">
                <a:latin typeface="Courier"/>
              </a:rPr>
              <a:t>NOT YET RUN / NO KIT MODEL RESULT</a:t>
            </a:r>
          </a:p>
          <a:p>
            <a:pPr lvl="0" indent="0" marL="0">
              <a:buNone/>
            </a:pPr>
            <a:r>
              <a:rPr/>
              <a:t>Future held-condition OOF report:</a:t>
            </a:r>
          </a:p>
          <a:p>
            <a:pPr lvl="0"/>
            <a:r>
              <a:rPr/>
              <a:t>per-mode, per-temperature and per-condition results first;</a:t>
            </a:r>
          </a:p>
          <a:p>
            <a:pPr lvl="0"/>
            <a:r>
              <a:rPr/>
              <a:t>PR-AUC, recall/precision at frozen alert budget, misses and false alerts;</a:t>
            </a:r>
          </a:p>
          <a:p>
            <a:pPr lvl="0"/>
            <a:r>
              <a:rPr/>
              <a:t>calibration and event-level warning lead time;</a:t>
            </a:r>
          </a:p>
          <a:p>
            <a:pPr lvl="0"/>
            <a:r>
              <a:rPr/>
              <a:t>survival integrated Brier score, concordance, calibration and interval coverage;</a:t>
            </a:r>
          </a:p>
          <a:p>
            <a:pPr lvl="0"/>
            <a:r>
              <a:rPr/>
              <a:t>paired feature-view deltas, especially </a:t>
            </a:r>
            <a:r>
              <a:rPr>
                <a:latin typeface="Courier"/>
              </a:rPr>
              <a:t>D-core - B</a:t>
            </a:r>
            <a:r>
              <a:rPr/>
              <a:t>;</a:t>
            </a:r>
          </a:p>
          <a:p>
            <a:pPr lvl="0"/>
            <a:r>
              <a:rPr/>
              <a:t>worst cases, false positives/negatives and abstentions;</a:t>
            </a:r>
          </a:p>
          <a:p>
            <a:pPr lvl="0"/>
            <a:r>
              <a:rPr/>
              <a:t>action-policy utility and stability.</a:t>
            </a:r>
          </a:p>
          <a:p>
            <a:pPr lvl="0" indent="0" marL="0">
              <a:buNone/>
            </a:pPr>
            <a:r>
              <a:rPr/>
              <a:t>No fake ROC/PR curve, trajectory or headline metric is used as a placeholder.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VALIDATION / TEST — Leakage-resistant and one shot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metadata-only condition split
  -&gt; nested development OOF
  -&gt; independent metric + model-rationale review
  -&gt; freeze model/features/calibration/actions/report
  -&gt; separate human authorization
  -&gt; one protected held-condition evaluation</a:t>
            </a:r>
          </a:p>
          <a:p>
            <a:pPr lvl="0"/>
            <a:r>
              <a:rPr/>
              <a:t>All three replicate cells of a condition remain together.</a:t>
            </a:r>
          </a:p>
          <a:p>
            <a:pPr lvl="0"/>
            <a:r>
              <a:rPr/>
              <a:t>Random row/spectrum/check-up splits are prohibited.</a:t>
            </a:r>
          </a:p>
          <a:p>
            <a:pPr lvl="0"/>
            <a:r>
              <a:rPr/>
              <a:t>Test labels cannot choose variables, thresholds, seeds or ensemble weights.</a:t>
            </a:r>
          </a:p>
          <a:p>
            <a:pPr lvl="0"/>
            <a:r>
              <a:rPr/>
              <a:t>Final protected result status: </a:t>
            </a:r>
            <a:r>
              <a:rPr b="1">
                <a:latin typeface="Courier"/>
              </a:rPr>
              <a:t>NOT AUTHORIZED</a:t>
            </a:r>
            <a:r>
              <a:rPr/>
              <a:t>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ANALYSIS — What the score alone cannot tell 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mode / temperature / condition errors
        + calibration
        + false positives / false negatives
        + lead-time distribution
        + censoring sensitivity
        + feature stability
        + failure cases
        + decision utility</a:t>
            </a:r>
          </a:p>
          <a:p>
            <a:pPr lvl="0" indent="0" marL="0">
              <a:buNone/>
            </a:pPr>
            <a:r>
              <a:rPr/>
              <a:t>Key causal restraint: </a:t>
            </a:r>
            <a:r>
              <a:rPr>
                <a:latin typeface="Courier"/>
              </a:rPr>
              <a:t>D-core &gt; B</a:t>
            </a:r>
            <a:r>
              <a:rPr/>
              <a:t> is evidence of incremental predictive value under this protocol; it is not proof that an impedance feature is a degradation mechanism.</a:t>
            </a:r>
          </a:p>
          <a:p>
            <a:pPr lvl="0" indent="0" marL="0">
              <a:buNone/>
            </a:pPr>
            <a:r>
              <a:rPr/>
              <a:t>A valid negative conclusion is possible: </a:t>
            </a:r>
            <a:r>
              <a:rPr b="1"/>
              <a:t>EIS advantage not demonstrated.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DECISION OUTPUT — Evidence before action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validated snapshot
  -&gt; calibrated risk + conditional RUL
  -&gt; deterministic policy
  -&gt; evidence packet
  -&gt; human review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Level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Meaning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Suggested human-reviewed response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Green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 registered trigger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Continue scheduled monitoring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Yellow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Moderate risk or questionable data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Retest / shorten interval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Orange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Persistent high degradation risk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Inspect, consider derating, plan service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Confirmed capacity criterion/repeated evidence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Service or replacement review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CLI demonstration now: synthetic </a:t>
            </a:r>
            <a:r>
              <a:rPr>
                <a:latin typeface="Courier"/>
              </a:rPr>
              <a:t>Q0</a:t>
            </a:r>
            <a:r>
              <a:rPr/>
              <a:t>/SoH + next-three-check-up threshold label + provisional action requiring human review. Other history, rapid-label, censoring, peer, split and metric contracts have unit-test coverage but are not CLI demo outputs.</a:t>
            </a:r>
            <a:br/>
            <a:r>
              <a:rPr/>
              <a:t>Not implemented: audited KIT loader, trained model, calibrated thresholds, validated UI decision.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CONCLUSION — Current evidence and next milestones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Can conclude now</a:t>
            </a:r>
          </a:p>
          <a:p>
            <a:pPr lvl="0"/>
            <a:r>
              <a:rPr/>
              <a:t>prospective question, data hierarchy and leakage boundary are defined;</a:t>
            </a:r>
          </a:p>
          <a:p>
            <a:pPr lvl="0"/>
            <a:r>
              <a:rPr/>
              <a:t>the CLI demonstrates synthetic </a:t>
            </a:r>
            <a:r>
              <a:rPr>
                <a:latin typeface="Courier"/>
              </a:rPr>
              <a:t>Q0</a:t>
            </a:r>
            <a:r>
              <a:rPr/>
              <a:t>/SoH, a next-three-check-up threshold label and a provisional human-reviewed action;</a:t>
            </a:r>
          </a:p>
          <a:p>
            <a:pPr lvl="0"/>
            <a:r>
              <a:rPr/>
              <a:t>broader history, rapid-label, censoring, peer, split and metric contracts have unit-test coverage;</a:t>
            </a:r>
          </a:p>
          <a:p>
            <a:pPr lvl="0"/>
            <a:r>
              <a:rPr>
                <a:latin typeface="Courier"/>
              </a:rPr>
              <a:t>D-core</a:t>
            </a:r>
            <a:r>
              <a:rPr/>
              <a:t> versus </a:t>
            </a:r>
            <a:r>
              <a:rPr>
                <a:latin typeface="Courier"/>
              </a:rPr>
              <a:t>B</a:t>
            </a:r>
            <a:r>
              <a:rPr/>
              <a:t> is the registered EIS-value test.</a:t>
            </a:r>
          </a:p>
          <a:p>
            <a:pPr lvl="0" indent="0" marL="0">
              <a:buNone/>
            </a:pPr>
            <a:r>
              <a:rPr b="1"/>
              <a:t>Cannot conclude now</a:t>
            </a:r>
          </a:p>
          <a:p>
            <a:pPr lvl="0"/>
            <a:r>
              <a:rPr/>
              <a:t>no reviewed KIT training or prediction result;</a:t>
            </a:r>
          </a:p>
          <a:p>
            <a:pPr lvl="0"/>
            <a:r>
              <a:rPr/>
              <a:t>no EIS advantage, RUL accuracy, warning lead time or deployed action validity proven.</a:t>
            </a:r>
          </a:p>
          <a:p>
            <a:pPr lvl="0" indent="0" marL="0">
              <a:buNone/>
            </a:pPr>
            <a:r>
              <a:rPr b="1"/>
              <a:t>Evidence needed next</a:t>
            </a:r>
          </a:p>
          <a:p>
            <a:pPr lvl="0" indent="0">
              <a:buNone/>
            </a:pPr>
            <a:r>
              <a:rPr>
                <a:latin typeface="Courier"/>
              </a:rPr>
              <a:t>audited KIT cohort -&gt; label/censoring prevalence review -&gt; grouped leakage tests
-&gt; observable real-data training smoke -&gt; independent authorization
-&gt; nested development OOF -&gt; model rationale -&gt; protected one-shot test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2026-08-01T22:15:16Z</dcterms:created>
  <dcterms:modified xsi:type="dcterms:W3CDTF">2026-08-01T22:15:16Z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