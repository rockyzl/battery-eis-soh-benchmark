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今天讲的不是“模型已经可以换电池”，而是一个更窄、更可审查的问题：同一批快照、同一外层 拆分、同一模型下，加入 D_CORE EIS 特征是否改变未来 H3 SoH loss 的预测误差。所有数字都来自 同一个受控 development run；不能称为最终模型成绩。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一个电池现在 92% SoH，并不能直接告诉我们它未来三次检查会掉 0.5 个百分点还是 8 个百分点。 本项目先回答“会掉多少”，而不是先造一个 yes/no 告警。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数据文件可以有上百万行，但科学上的独立规模仍主要由 76 个 conditions 和 228 个 cells 决定。 如果随机拆频率行或 check-up，同一个电芯会同时出现在训练和测试中，结果会过度乐观。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Calendar、cyclic 和 driving profile 对应不同 exposure 过程。即使都用 H3，三次检查跨过的实际天数 或 EFC 也不同，因此必须按模式解释。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必须把“数据集里有 EIS”和“每个模型使用了 EIS”分开。B 是容量/条件基线；D_CORE 才加入在当时 可获得、经汇总后的 EIS 核心特征。配对结果只能回答这次 development diagnostics，不能发布结论。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Ground truth 来自未来真实容量检查，不是人工标签。模型预测的是下降量；未来 SoH 只是从当前 SoH 减去预测下降量。这样能同时看到现在状态和未来变化。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2,919 不是 2,919 个独立电池，而是 180 个满足当前 B-view 历史/H3 条件的电芯在多个时间点的 快照。condition-held-out split 才能处理这些相关记录。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prefix-only 的意思是：在历史回放到 check-up t 时，输入只能来自当时已经知道的信息。未来的 H3 容量只在 label/evaluation 侧使用。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这种切法比随机行拆分更难，但更接近真正的问题：模型能否面对训练时没见过的一整组老化条件。 同一个 condition 的三个 replicates 不能跨到不同 folds。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这里不是说 variable selection 永远没用，而是当前 run 的目标是一个严格、可重复的第一基线。 未来如要筛变量，需要在 condition-grouped inner CV 中重新冻结方案。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这不是模型大赛。Recent slope 是必须认真对待的业务基线：如果复杂模型连它都不能稳定超过， 就没有理由增加部署复杂度。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validated 表示文件结构、数量、hash 和运行契约完成校验，不等于科学发表或生产批准。最终 manifest 仍明确写着 publication_ready=false 和 protected_test_result=false。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例如 cyclic 中 ElasticNet 的 R² 比 recent slope 高，但 recent slope 的 MAE 更低。协议规定 MAE 是 primary，因此不能事后改用 R² 选模型。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Calendar 中 D_CORE 没有清楚、可分辨的增量价值；微小数字不应被讲成机理或产品收益。它仍没有 protected test，也不能推导成真实车队部署性能。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 cyclic 中，同一 EIS 表示对 HGB 的 MAE 有诊断性改善，却使 ElasticNet 明显变差。这不是可 以推广的“EIS 总是更好”，而是下一轮需要解释的模型依赖结果。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“没有全局 EIS 赢家”不是含糊其辞，而是这组配对结果本身。下一步应先确认时间/温度语义和 跨数据集可重复性，而不是继续堆更复杂模型。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这页是材料可信度的核心。EIS 已进入 D_CORE 配对诊断，但不能把局部 development delta 写成 “EIS 总是改善预测”。也不能把 development OOF 数字直接放进简历或对外文章。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UI 不是 battery digital twin。它的价值是让用户看到“当时知道什么、模型预测什么、什么时候才 知道答案”，并保留数据不可用原因。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模型不直接换电池。合理的第一步是“复测和人工审查排序”。是否省钱、是否减少漏检，都要在真实 流程中另外测量。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下一步不是盲目增加神经网络。先解释失败模式，再检验 EIS 是否真正增加信息，最后才讨论选择、 告警和部署。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项目现在已经从“纸上计划”进入了真实训练和可审计结果阶段，但还没有跨过最终验证边界。下一轮 工作的重点是解释模式差异、加入严格配对的 EIS 对照，并保留 protected test。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1792" y="475488"/>
            <a:ext cx="2468880" cy="310896"/>
          </a:xfrm>
          <a:prstGeom prst="roundRect">
            <a:avLst/>
          </a:prstGeom>
          <a:solidFill>
            <a:srgbClr val="15365B"/>
          </a:solidFill>
          <a:ln w="12700">
            <a:solidFill>
              <a:srgbClr val="15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502920"/>
            <a:ext cx="2377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KIT 228 电芯 · RESEARCH SEMINAR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5156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电池衰减预警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10512"/>
            <a:ext cx="1051560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27C2D1"/>
                </a:solidFill>
                <a:latin typeface="Microsoft YaHei"/>
              </a:defRPr>
            </a:pPr>
            <a:r>
              <a:t>EIS 能让未来衰减预测更好吗？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15184"/>
            <a:ext cx="104241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A8B8CE"/>
                </a:solidFill>
                <a:latin typeface="Microsoft YaHei"/>
              </a:defRPr>
            </a:pPr>
            <a:r>
              <a:t>condition-held-out paired development OOF · capacity baseline vs D_CORE/EIS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310128"/>
            <a:ext cx="2084831" cy="1170432"/>
          </a:xfrm>
          <a:prstGeom prst="roundRect">
            <a:avLst/>
          </a:prstGeom>
          <a:solidFill>
            <a:srgbClr val="14243C"/>
          </a:solidFill>
          <a:ln w="12700">
            <a:solidFill>
              <a:srgbClr val="294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3493008"/>
            <a:ext cx="1755648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27C2D1"/>
                </a:solidFill>
                <a:latin typeface="Microsoft YaHei"/>
              </a:defRPr>
            </a:pPr>
            <a:r>
              <a:t>228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041648"/>
            <a:ext cx="175564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A8B8CE"/>
                </a:solidFill>
                <a:latin typeface="Microsoft YaHei"/>
              </a:defRPr>
            </a:pPr>
            <a:r>
              <a:t>physical cells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3310128"/>
            <a:ext cx="2084831" cy="1170432"/>
          </a:xfrm>
          <a:prstGeom prst="roundRect">
            <a:avLst/>
          </a:prstGeom>
          <a:solidFill>
            <a:srgbClr val="14243C"/>
          </a:solidFill>
          <a:ln w="12700">
            <a:solidFill>
              <a:srgbClr val="294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27832" y="3493008"/>
            <a:ext cx="1755648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27C2D1"/>
                </a:solidFill>
                <a:latin typeface="Microsoft YaHei"/>
              </a:defRPr>
            </a:pPr>
            <a:r>
              <a:t>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7832" y="4041648"/>
            <a:ext cx="175564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A8B8CE"/>
                </a:solidFill>
                <a:latin typeface="Microsoft YaHei"/>
              </a:defRPr>
            </a:pPr>
            <a:r>
              <a:t>operating conditions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68112" y="3310128"/>
            <a:ext cx="2084831" cy="1170432"/>
          </a:xfrm>
          <a:prstGeom prst="roundRect">
            <a:avLst/>
          </a:prstGeom>
          <a:solidFill>
            <a:srgbClr val="14243C"/>
          </a:solidFill>
          <a:ln w="12700">
            <a:solidFill>
              <a:srgbClr val="294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32704" y="3493008"/>
            <a:ext cx="1755648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27C2D1"/>
                </a:solidFill>
                <a:latin typeface="Microsoft YaHei"/>
              </a:defRPr>
            </a:pPr>
            <a:r>
              <a:t>H3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32704" y="4041648"/>
            <a:ext cx="175564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A8B8CE"/>
                </a:solidFill>
                <a:latin typeface="Microsoft YaHei"/>
              </a:defRPr>
            </a:pPr>
            <a:r>
              <a:t>exact future check-up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0416" y="3310128"/>
            <a:ext cx="3611880" cy="1170432"/>
          </a:xfrm>
          <a:prstGeom prst="roundRect">
            <a:avLst/>
          </a:prstGeom>
          <a:solidFill>
            <a:srgbClr val="281D27"/>
          </a:solidFill>
          <a:ln w="12700">
            <a:solidFill>
              <a:srgbClr val="67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3502152"/>
            <a:ext cx="3154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2A93B"/>
                </a:solidFill>
                <a:latin typeface="Microsoft YaHei"/>
              </a:defRPr>
            </a:pPr>
            <a:r>
              <a:t>当前证据边界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9872" y="3840480"/>
            <a:ext cx="3154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B vs D_CORE paired development run</a:t>
            </a:r>
          </a:p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无 protected test · 未做 selection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961888"/>
            <a:ext cx="6217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A8B8CE"/>
                </a:solidFill>
                <a:latin typeface="Microsoft YaHei"/>
              </a:defRPr>
            </a:pPr>
            <a:r>
              <a:t>Lu Zhang  ·  independent public-data research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46520"/>
            <a:ext cx="795527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27C2D1"/>
                </a:solidFill>
                <a:latin typeface="Microsoft YaHei"/>
              </a:defRPr>
            </a:pPr>
            <a:r>
              <a:t>DEVELOPMENT OOF  ·  B vs D_CORE/EIS  ·  NO PROTECTED TEST  ·  NO SELECTION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6419088"/>
            <a:ext cx="777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A8B8CE"/>
                </a:solidFill>
                <a:latin typeface="Microsoft YaHei"/>
              </a:defRPr>
            </a:pPr>
            <a:r>
              <a:t>01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研究问题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1. 研究目的：不是测到 SoH，而是预测未来变化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3840480" cy="210312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89888"/>
            <a:ext cx="64008" cy="2103120"/>
          </a:xfrm>
          <a:prstGeom prst="rect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54480"/>
            <a:ext cx="345643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现在知道什么？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84248"/>
            <a:ext cx="3456432" cy="1353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容量、当前 SoH</a:t>
            </a: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历史趋势、使用条件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2" y="2029968"/>
            <a:ext cx="6400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2800" b="1">
                <a:solidFill>
                  <a:srgbClr val="27C2D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389888"/>
            <a:ext cx="6126480" cy="2103120"/>
          </a:xfrm>
          <a:prstGeom prst="roundRect">
            <a:avLst/>
          </a:prstGeom>
          <a:solidFill>
            <a:srgbClr val="EAF8F1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94960" y="1389888"/>
            <a:ext cx="64008" cy="2103120"/>
          </a:xfrm>
          <a:prstGeom prst="rect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05272" y="1554480"/>
            <a:ext cx="574243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真正要提前知道什么？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5272" y="1984248"/>
            <a:ext cx="5742432" cy="1353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未来第三次完成的检查时，SoH 会下降多少？</a:t>
            </a: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哪些电芯值得优先复测或人工审查？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58768"/>
            <a:ext cx="10881360" cy="676656"/>
          </a:xfrm>
          <a:prstGeom prst="roundRect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2A93B"/>
                </a:solidFill>
                <a:latin typeface="Microsoft YaHei"/>
              </a:defRPr>
            </a:pPr>
            <a:r>
              <a:t>测量结果 ≠ 未来预测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4041648"/>
            <a:ext cx="8001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172033"/>
                </a:solidFill>
                <a:latin typeface="Microsoft YaHei"/>
              </a:defRPr>
            </a:pPr>
            <a:r>
              <a:t>本项目预测连续衰减量，再派生 future SoH。</a:t>
            </a:r>
          </a:p>
        </p:txBody>
      </p:sp>
      <p:sp>
        <p:nvSpPr>
          <p:cNvPr id="17" name="Oval 16"/>
          <p:cNvSpPr/>
          <p:nvPr/>
        </p:nvSpPr>
        <p:spPr>
          <a:xfrm>
            <a:off x="749808" y="5029200"/>
            <a:ext cx="118872" cy="118872"/>
          </a:xfrm>
          <a:prstGeom prst="ellipse">
            <a:avLst/>
          </a:prstGeom>
          <a:solidFill>
            <a:srgbClr val="27C2D1"/>
          </a:solidFill>
          <a:ln w="12700">
            <a:solidFill>
              <a:srgbClr val="27C2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5" y="4919472"/>
            <a:ext cx="10268712" cy="51206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172033"/>
                </a:solidFill>
                <a:latin typeface="Microsoft YaHei"/>
              </a:defRPr>
            </a:pPr>
            <a:r>
              <a:t>不预测热失控、火灾、内短路或所有故障</a:t>
            </a:r>
          </a:p>
        </p:txBody>
      </p:sp>
      <p:sp>
        <p:nvSpPr>
          <p:cNvPr id="19" name="Oval 18"/>
          <p:cNvSpPr/>
          <p:nvPr/>
        </p:nvSpPr>
        <p:spPr>
          <a:xfrm>
            <a:off x="749808" y="5559552"/>
            <a:ext cx="118872" cy="118872"/>
          </a:xfrm>
          <a:prstGeom prst="ellipse">
            <a:avLst/>
          </a:prstGeom>
          <a:solidFill>
            <a:srgbClr val="27C2D1"/>
          </a:solidFill>
          <a:ln w="12700">
            <a:solidFill>
              <a:srgbClr val="27C2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5449824"/>
            <a:ext cx="10268712" cy="51206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172033"/>
                </a:solidFill>
                <a:latin typeface="Microsoft YaHei"/>
              </a:defRPr>
            </a:pPr>
            <a:r>
              <a:t>“优先复测”只是业务价值假设，尚未验证维护效果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 vs D_CORE/EIS  ·  NO PROTECTED TEST  ·  NO SELECTION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02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数据单位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2. 官方 KIT 数据：独立单位不是频率行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0116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3478F6"/>
                </a:solidFill>
                <a:latin typeface="Microsoft YaHei"/>
              </a:defRPr>
            </a:pPr>
            <a:r>
              <a:t>76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61488" y="1371600"/>
            <a:ext cx="411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627089"/>
                </a:solidFill>
                <a:latin typeface="Microsoft YaHei"/>
              </a:defRPr>
            </a:pPr>
            <a:r>
              <a:t>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82112" y="1371600"/>
            <a:ext cx="2286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7656D6"/>
                </a:solidFill>
                <a:latin typeface="Microsoft YaHei"/>
              </a:defRPr>
            </a:pPr>
            <a:r>
              <a:t>3 replicate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371600"/>
            <a:ext cx="411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627089"/>
                </a:solidFill>
                <a:latin typeface="Microsoft YaHei"/>
              </a:defRPr>
            </a:pPr>
            <a:r>
              <a:t>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5312" y="1371600"/>
            <a:ext cx="19202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31B57A"/>
                </a:solidFill>
                <a:latin typeface="Microsoft YaHei"/>
              </a:defRPr>
            </a:pPr>
            <a:r>
              <a:t>228 cells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93392"/>
            <a:ext cx="2057400" cy="658368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084832"/>
            <a:ext cx="1965960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层级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5768" y="1993392"/>
            <a:ext cx="4572000" cy="658368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1487" y="2084832"/>
            <a:ext cx="4480560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数据含义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7768" y="1993392"/>
            <a:ext cx="4297680" cy="658368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2084832"/>
            <a:ext cx="4206240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拆分规则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651760"/>
            <a:ext cx="2057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2724912"/>
            <a:ext cx="196596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Condition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15768" y="2651760"/>
            <a:ext cx="4572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1487" y="2724912"/>
            <a:ext cx="448056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一组固定老化条件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87768" y="2651760"/>
            <a:ext cx="4297680" cy="658368"/>
          </a:xfrm>
          <a:prstGeom prst="rect">
            <a:avLst/>
          </a:prstGeom>
          <a:solidFill>
            <a:srgbClr val="EAF8F1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33488" y="2724912"/>
            <a:ext cx="420624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1">
                <a:solidFill>
                  <a:srgbClr val="31B57A"/>
                </a:solidFill>
                <a:latin typeface="Microsoft YaHei"/>
              </a:defRPr>
            </a:pPr>
            <a:r>
              <a:t>完整 hold out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310128"/>
            <a:ext cx="2057400" cy="658368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3383280"/>
            <a:ext cx="196596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Cell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15768" y="3310128"/>
            <a:ext cx="4572000" cy="658368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61487" y="3383280"/>
            <a:ext cx="448056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真实 18650 电芯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87768" y="3310128"/>
            <a:ext cx="4297680" cy="658368"/>
          </a:xfrm>
          <a:prstGeom prst="rect">
            <a:avLst/>
          </a:prstGeom>
          <a:solidFill>
            <a:srgbClr val="EAF8F1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33488" y="3383280"/>
            <a:ext cx="420624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1">
                <a:solidFill>
                  <a:srgbClr val="31B57A"/>
                </a:solidFill>
                <a:latin typeface="Microsoft YaHei"/>
              </a:defRPr>
            </a:pPr>
            <a:r>
              <a:t>同 condition 不拆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968496"/>
            <a:ext cx="2057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4041648"/>
            <a:ext cx="196596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Check-up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15768" y="3968496"/>
            <a:ext cx="4572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61487" y="4041648"/>
            <a:ext cx="448056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同一电芯的重复诊断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87768" y="3968496"/>
            <a:ext cx="4297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33488" y="4041648"/>
            <a:ext cx="420624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不是独立电芯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626864"/>
            <a:ext cx="2057400" cy="658368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4700016"/>
            <a:ext cx="196596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Spectrum / row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15768" y="4626864"/>
            <a:ext cx="4572000" cy="658368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61487" y="4700016"/>
            <a:ext cx="448056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检查细节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87768" y="4626864"/>
            <a:ext cx="4297680" cy="658368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33488" y="4700016"/>
            <a:ext cx="420624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不是独立样本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394960"/>
            <a:ext cx="10927080" cy="530352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E4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541264"/>
            <a:ext cx="105156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19" b="1">
                <a:solidFill>
                  <a:srgbClr val="E45B5B"/>
                </a:solidFill>
                <a:latin typeface="Microsoft YaHei"/>
              </a:defRPr>
            </a:pPr>
            <a:r>
              <a:t>科学独立规模由 76 conditions / 228 cells 决定，不由上百万频率行决定。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 vs D_CORE/EIS  ·  NO PROTECTED TEST  ·  NO SELECTION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03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三类老化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3. 本次配对 H3 训练支持：三种老化模式不能混为一个“cycle number”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44752"/>
            <a:ext cx="3401568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64008" cy="3154680"/>
          </a:xfrm>
          <a:prstGeom prst="rect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9344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CALENDAR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39112"/>
            <a:ext cx="3017520" cy="2404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16 conditions · 48 cells</a:t>
            </a: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静置老化</a:t>
            </a: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主要 exposure</a:t>
            </a: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elapsed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44752"/>
            <a:ext cx="3401568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444752"/>
            <a:ext cx="64008" cy="3154680"/>
          </a:xfrm>
          <a:prstGeom prst="rect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609344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CYCLIC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039112"/>
            <a:ext cx="3017520" cy="2404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35 conditions · 99 cells</a:t>
            </a: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受控充放电</a:t>
            </a: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主要 exposure</a:t>
            </a: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EFC + elapsed days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1444752"/>
            <a:ext cx="3401568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432" y="1444752"/>
            <a:ext cx="64008" cy="3154680"/>
          </a:xfrm>
          <a:prstGeom prst="rect">
            <a:avLst/>
          </a:prstGeom>
          <a:solidFill>
            <a:srgbClr val="7656D6"/>
          </a:solidFill>
          <a:ln w="12700">
            <a:solidFill>
              <a:srgbClr val="76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1609344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DRIVING 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039112"/>
            <a:ext cx="3017520" cy="2404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11 conditions · 33 cells</a:t>
            </a: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WLTP-derived 动态功率</a:t>
            </a: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主要 exposure</a:t>
            </a: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EFC；距离需可追溯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901184"/>
            <a:ext cx="10771632" cy="822960"/>
          </a:xfrm>
          <a:prstGeom prst="roundRect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5102352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2A93B"/>
                </a:solidFill>
                <a:latin typeface="Microsoft YaHei"/>
              </a:defRPr>
            </a:pPr>
            <a:r>
              <a:t>分别训练 · 分别报告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63824" y="5129784"/>
            <a:ext cx="784555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172033"/>
                </a:solidFill>
                <a:latin typeface="Microsoft YaHei"/>
              </a:defRPr>
            </a:pPr>
            <a:r>
              <a:t>本页是本次 paired H3 支持；check-up index 只是顺序，模式误差不能混成一个“全局最好模型”。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 vs D_CORE/EIS  ·  NO PROTECTED TEST  ·  NO SELECTION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04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本次运行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4. Ground truth：Q0、当前 SoH 与 H3 future loss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44752"/>
            <a:ext cx="154228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517904"/>
            <a:ext cx="1395984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172033"/>
                </a:solidFill>
                <a:latin typeface="Microsoft YaHei"/>
              </a:defRPr>
            </a:pPr>
            <a:r>
              <a:t>Q0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82368" y="1627632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1552" y="1444752"/>
            <a:ext cx="154228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4704" y="1517904"/>
            <a:ext cx="1395984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172033"/>
                </a:solidFill>
                <a:latin typeface="Microsoft YaHei"/>
              </a:defRPr>
            </a:pPr>
            <a:r>
              <a:t>SoH 历史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53840" y="1627632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3024" y="1444752"/>
            <a:ext cx="154228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176" y="1517904"/>
            <a:ext cx="1395984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172033"/>
                </a:solidFill>
                <a:latin typeface="Microsoft YaHei"/>
              </a:defRPr>
            </a:pPr>
            <a:r>
              <a:t>衰减斜率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25312" y="1627632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1444752"/>
            <a:ext cx="154228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517904"/>
            <a:ext cx="1395984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172033"/>
                </a:solidFill>
                <a:latin typeface="Microsoft YaHei"/>
              </a:defRPr>
            </a:pPr>
            <a:r>
              <a:t>B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784" y="1627632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5968" y="1444752"/>
            <a:ext cx="154228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9120" y="1517904"/>
            <a:ext cx="1395984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172033"/>
                </a:solidFill>
                <a:latin typeface="Microsoft YaHei"/>
              </a:defRPr>
            </a:pPr>
            <a:r>
              <a:t>D_CORE + EIS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68256" y="1627632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97440" y="1444752"/>
            <a:ext cx="154228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70592" y="1517904"/>
            <a:ext cx="1395984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172033"/>
                </a:solidFill>
                <a:latin typeface="Microsoft YaHei"/>
              </a:defRPr>
            </a:pPr>
            <a:r>
              <a:t>H3 loss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606040"/>
            <a:ext cx="6656832" cy="20848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2816352"/>
            <a:ext cx="4297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3478F6"/>
                </a:solidFill>
                <a:latin typeface="Microsoft YaHei"/>
              </a:defRPr>
            </a:pPr>
            <a:r>
              <a:t>PAIRED COHORT · B vs D_CORE</a:t>
            </a:r>
          </a:p>
        </p:txBody>
      </p:sp>
      <p:sp>
        <p:nvSpPr>
          <p:cNvPr id="24" name="Oval 23"/>
          <p:cNvSpPr/>
          <p:nvPr/>
        </p:nvSpPr>
        <p:spPr>
          <a:xfrm>
            <a:off x="896112" y="3355848"/>
            <a:ext cx="118872" cy="118872"/>
          </a:xfrm>
          <a:prstGeom prst="ellipse">
            <a:avLst/>
          </a:prstGeom>
          <a:solidFill>
            <a:srgbClr val="27C2D1"/>
          </a:solidFill>
          <a:ln w="12700">
            <a:solidFill>
              <a:srgbClr val="27C2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3246120"/>
            <a:ext cx="5742431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172033"/>
                </a:solidFill>
                <a:latin typeface="Microsoft YaHei"/>
              </a:defRPr>
            </a:pPr>
            <a:r>
              <a:t>228 cells / 76 conditions / 3 replicates</a:t>
            </a:r>
          </a:p>
        </p:txBody>
      </p:sp>
      <p:sp>
        <p:nvSpPr>
          <p:cNvPr id="26" name="Oval 25"/>
          <p:cNvSpPr/>
          <p:nvPr/>
        </p:nvSpPr>
        <p:spPr>
          <a:xfrm>
            <a:off x="896112" y="3776472"/>
            <a:ext cx="118872" cy="118872"/>
          </a:xfrm>
          <a:prstGeom prst="ellipse">
            <a:avLst/>
          </a:prstGeom>
          <a:solidFill>
            <a:srgbClr val="27C2D1"/>
          </a:solidFill>
          <a:ln w="12700">
            <a:solidFill>
              <a:srgbClr val="27C2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3666744"/>
            <a:ext cx="5742431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172033"/>
                </a:solidFill>
                <a:latin typeface="Microsoft YaHei"/>
              </a:defRPr>
            </a:pPr>
            <a:r>
              <a:t>3,999 capacity endpoints · 3,993 EIS acquisitions</a:t>
            </a:r>
          </a:p>
        </p:txBody>
      </p:sp>
      <p:sp>
        <p:nvSpPr>
          <p:cNvPr id="28" name="Oval 27"/>
          <p:cNvSpPr/>
          <p:nvPr/>
        </p:nvSpPr>
        <p:spPr>
          <a:xfrm>
            <a:off x="896112" y="4197096"/>
            <a:ext cx="118872" cy="118872"/>
          </a:xfrm>
          <a:prstGeom prst="ellipse">
            <a:avLst/>
          </a:prstGeom>
          <a:solidFill>
            <a:srgbClr val="27C2D1"/>
          </a:solidFill>
          <a:ln w="12700">
            <a:solidFill>
              <a:srgbClr val="27C2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4087368"/>
            <a:ext cx="5742431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172033"/>
                </a:solidFill>
                <a:latin typeface="Microsoft YaHei"/>
              </a:defRPr>
            </a:pPr>
            <a:r>
              <a:t>2,919 matched B/D_CORE H3 snapshots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44383" y="2606040"/>
            <a:ext cx="3877056" cy="2084831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E4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60" y="2834640"/>
            <a:ext cx="3291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E45B5B"/>
                </a:solidFill>
                <a:latin typeface="Microsoft YaHei"/>
              </a:defRPr>
            </a:pPr>
            <a:r>
              <a:t>本次明确未使用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3364992"/>
            <a:ext cx="3310128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172033"/>
                </a:solidFill>
                <a:latin typeface="Microsoft YaHei"/>
              </a:defRPr>
            </a:pPr>
            <a:r>
              <a:t>pulse · O2 classification</a:t>
            </a:r>
          </a:p>
          <a:p>
            <a:pPr algn="ctr">
              <a:spcAft>
                <a:spcPts val="0"/>
              </a:spcAft>
              <a:defRPr sz="1300" b="1">
                <a:solidFill>
                  <a:srgbClr val="172033"/>
                </a:solidFill>
                <a:latin typeface="Microsoft YaHei"/>
              </a:defRPr>
            </a:pPr>
            <a:r>
              <a:t>RUL · protected labels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4224528"/>
            <a:ext cx="2395728" cy="310896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FD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4251960"/>
            <a:ext cx="230428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E45B5B"/>
                </a:solidFill>
                <a:latin typeface="Microsoft YaHei"/>
              </a:defRPr>
            </a:pPr>
            <a:r>
              <a:t>O2 / RUL = false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5193792"/>
            <a:ext cx="106984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2A93B"/>
                </a:solidFill>
                <a:latin typeface="Microsoft YaHei"/>
              </a:defRPr>
            </a:pPr>
            <a:r>
              <a:t>D_CORE = B + 54 个当前检查 EIS core values；只做配对诊断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 vs D_CORE/EIS  ·  NO PROTECTED TEST  ·  NO SELECTION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05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目标定义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5. EDA：3,999 endpoints 怎样变成 2,919 paired snapshots？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26464"/>
            <a:ext cx="340156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9536" y="1673352"/>
            <a:ext cx="384048" cy="384048"/>
          </a:xfrm>
          <a:prstGeom prst="ellipse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46504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09344"/>
            <a:ext cx="2423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SoH_t (%)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93976"/>
            <a:ext cx="2423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478F6"/>
                </a:solidFill>
                <a:latin typeface="Microsoft YaHei"/>
              </a:defRPr>
            </a:pPr>
            <a:r>
              <a:t>100 × Capacity_t / Q0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5" y="1426464"/>
            <a:ext cx="340156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35423" y="1673352"/>
            <a:ext cx="384048" cy="384048"/>
          </a:xfrm>
          <a:prstGeom prst="ellipse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3" y="1746504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7488" y="1609344"/>
            <a:ext cx="2423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H3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7488" y="2093976"/>
            <a:ext cx="2423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1B57A"/>
                </a:solidFill>
                <a:latin typeface="Microsoft YaHei"/>
              </a:defRPr>
            </a:pPr>
            <a:r>
              <a:t>SoH_t − SoH_t+3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426464"/>
            <a:ext cx="340156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11312" y="1673352"/>
            <a:ext cx="384048" cy="384048"/>
          </a:xfrm>
          <a:prstGeom prst="ellipse">
            <a:avLst/>
          </a:prstGeom>
          <a:solidFill>
            <a:srgbClr val="7656D6"/>
          </a:solidFill>
          <a:ln w="12700">
            <a:solidFill>
              <a:srgbClr val="76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746504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23376" y="1609344"/>
            <a:ext cx="2423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Future SoH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23376" y="2093976"/>
            <a:ext cx="2423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7656D6"/>
                </a:solidFill>
                <a:latin typeface="Microsoft YaHei"/>
              </a:defRPr>
            </a:pPr>
            <a:r>
              <a:t>current SoH − predicted loss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218688"/>
            <a:ext cx="3383280" cy="196596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218688"/>
            <a:ext cx="64008" cy="1965960"/>
          </a:xfrm>
          <a:prstGeom prst="rect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383280"/>
            <a:ext cx="299923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Q0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813048"/>
            <a:ext cx="2999232" cy="12161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每个电芯冻结的首个有效标准容量 endpoint。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218688"/>
            <a:ext cx="3383280" cy="1965960"/>
          </a:xfrm>
          <a:prstGeom prst="roundRect">
            <a:avLst/>
          </a:prstGeom>
          <a:solidFill>
            <a:srgbClr val="EAF8F1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3218688"/>
            <a:ext cx="64008" cy="1965960"/>
          </a:xfrm>
          <a:prstGeom prst="rect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2" y="3383280"/>
            <a:ext cx="299923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H3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2" y="3813048"/>
            <a:ext cx="2999232" cy="12161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未来第三次完成的 check-up；不是三天，也不是三次 cycle。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19872" y="3218688"/>
            <a:ext cx="3383280" cy="1965960"/>
          </a:xfrm>
          <a:prstGeom prst="roundRect">
            <a:avLst/>
          </a:prstGeom>
          <a:solidFill>
            <a:srgbClr val="FFF5E4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19872" y="3218688"/>
            <a:ext cx="64008" cy="196596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0184" y="3383280"/>
            <a:ext cx="299923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缺失与符号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4" y="3813048"/>
            <a:ext cx="2999232" cy="12161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负 loss 保留；末端无 exact H3 标为 no_h3_followup。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31920" y="5522976"/>
            <a:ext cx="4297680" cy="310896"/>
          </a:xfrm>
          <a:prstGeom prst="roundRect">
            <a:avLst/>
          </a:prstGeom>
          <a:solidFill>
            <a:srgbClr val="E8F9FA"/>
          </a:solidFill>
          <a:ln w="12700">
            <a:solidFill>
              <a:srgbClr val="E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77639" y="5550408"/>
            <a:ext cx="4206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172033"/>
                </a:solidFill>
                <a:latin typeface="Microsoft YaHei"/>
              </a:defRPr>
            </a:pPr>
            <a:r>
              <a:t>单位：SoH percentage points (pp)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 vs D_CORE/EIS  ·  NO PROTECTED TEST  ·  NO SELECTION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06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EDA / 样本构造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6. Feature engineering：B baseline 与 D_CORE/EIS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2834640" cy="585216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481328"/>
            <a:ext cx="274320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状态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3493008" y="1389888"/>
            <a:ext cx="1508760" cy="585216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8728" y="1481328"/>
            <a:ext cx="1417319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数量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1768" y="1389888"/>
            <a:ext cx="4526280" cy="585216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47488" y="1481328"/>
            <a:ext cx="44348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含义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975104"/>
            <a:ext cx="28346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048256"/>
            <a:ext cx="274320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eligible_f1_b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3008" y="1975104"/>
            <a:ext cx="1508760" cy="585216"/>
          </a:xfrm>
          <a:prstGeom prst="rect">
            <a:avLst/>
          </a:prstGeom>
          <a:solidFill>
            <a:srgbClr val="EAF8F1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2048256"/>
            <a:ext cx="1417319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1">
                <a:solidFill>
                  <a:srgbClr val="31B57A"/>
                </a:solidFill>
                <a:latin typeface="Microsoft YaHei"/>
              </a:defRPr>
            </a:pPr>
            <a:r>
              <a:t>2,919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1768" y="1975104"/>
            <a:ext cx="45262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7488" y="2048256"/>
            <a:ext cx="44348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足够历史 + exact H3 truth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560320"/>
            <a:ext cx="2834640" cy="585216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2633472"/>
            <a:ext cx="274320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insufficient_history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93008" y="2560320"/>
            <a:ext cx="1508760" cy="585216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8728" y="2633472"/>
            <a:ext cx="1417319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456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1768" y="2560320"/>
            <a:ext cx="4526280" cy="585216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47488" y="2633472"/>
            <a:ext cx="44348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前两个 check-up 不足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145536"/>
            <a:ext cx="28346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3218688"/>
            <a:ext cx="274320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no_h3_followup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93008" y="3145536"/>
            <a:ext cx="150876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38728" y="3218688"/>
            <a:ext cx="1417319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624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01768" y="3145536"/>
            <a:ext cx="45262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47488" y="3218688"/>
            <a:ext cx="44348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右边界无未来第三次检查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3730752"/>
            <a:ext cx="2834640" cy="585216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3803904"/>
            <a:ext cx="274320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合计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93008" y="3730752"/>
            <a:ext cx="1508760" cy="585216"/>
          </a:xfrm>
          <a:prstGeom prst="rect">
            <a:avLst/>
          </a:prstGeom>
          <a:solidFill>
            <a:srgbClr val="EAF8F1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38728" y="3803904"/>
            <a:ext cx="1417319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1">
                <a:solidFill>
                  <a:srgbClr val="31B57A"/>
                </a:solidFill>
                <a:latin typeface="Microsoft YaHei"/>
              </a:defRPr>
            </a:pPr>
            <a:r>
              <a:t>3,999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1768" y="3730752"/>
            <a:ext cx="4526280" cy="585216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47488" y="3803904"/>
            <a:ext cx="44348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与 source manifest 对齐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1389888"/>
            <a:ext cx="2340864" cy="2926080"/>
          </a:xfrm>
          <a:prstGeom prst="round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81744" y="1792224"/>
            <a:ext cx="1865376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2800" b="1">
                <a:solidFill>
                  <a:srgbClr val="27C2D1"/>
                </a:solidFill>
                <a:latin typeface="Microsoft YaHei"/>
              </a:defRPr>
            </a:pPr>
            <a:r>
              <a:t>2,919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2395728"/>
            <a:ext cx="18745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eligible snapshots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2889504"/>
            <a:ext cx="18745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2A93B"/>
                </a:solidFill>
                <a:latin typeface="Microsoft YaHei"/>
              </a:defRPr>
            </a:pPr>
            <a:r>
              <a:t>不是独立电池数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63456" y="3364992"/>
            <a:ext cx="1901952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0">
                <a:solidFill>
                  <a:srgbClr val="C5D1E0"/>
                </a:solidFill>
                <a:latin typeface="Microsoft YaHei"/>
              </a:defRPr>
            </a:pPr>
            <a:r>
              <a:t>来自 180 个满足条件的电芯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4617720"/>
            <a:ext cx="2103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72033"/>
                </a:solidFill>
                <a:latin typeface="Microsoft YaHei"/>
              </a:defRPr>
            </a:pPr>
            <a:r>
              <a:t>可训练快照按模式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047488"/>
            <a:ext cx="4205976" cy="548640"/>
          </a:xfrm>
          <a:prstGeom prst="rect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5193792"/>
            <a:ext cx="420597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Calendar  1,134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64344" y="5047488"/>
            <a:ext cx="4413679" cy="548640"/>
          </a:xfrm>
          <a:prstGeom prst="rect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64344" y="5193792"/>
            <a:ext cx="441367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Cyclic  1,190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78024" y="5047488"/>
            <a:ext cx="2206839" cy="548640"/>
          </a:xfrm>
          <a:prstGeom prst="rect">
            <a:avLst/>
          </a:prstGeom>
          <a:solidFill>
            <a:srgbClr val="7656D6"/>
          </a:solidFill>
          <a:ln w="12700">
            <a:solidFill>
              <a:srgbClr val="76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78024" y="5193792"/>
            <a:ext cx="220683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Profile  595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5870448"/>
            <a:ext cx="1082649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E45B5B"/>
                </a:solidFill>
                <a:latin typeface="Microsoft YaHei"/>
              </a:defRPr>
            </a:pPr>
            <a:r>
              <a:t>缺失原因必须分开记录，不能统一填 0 或无解释丢弃。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 vs D_CORE/EIS  ·  NO PROTECTED TEST  ·  NO SELECTION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07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特征工程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7. Preprocessing、feature engineering 与 no leakage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371600"/>
            <a:ext cx="5230368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64008" cy="1078992"/>
          </a:xfrm>
          <a:prstGeom prst="rect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36192"/>
            <a:ext cx="4846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状态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8463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当前 / 上一次 / 上上次 SoH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371600"/>
            <a:ext cx="5230368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44768" y="1371600"/>
            <a:ext cx="64008" cy="1078992"/>
          </a:xfrm>
          <a:prstGeom prst="rect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36192"/>
            <a:ext cx="4846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65960"/>
            <a:ext cx="48463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最近一次与两个间隔 signed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61488"/>
            <a:ext cx="5230368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761488"/>
            <a:ext cx="64008" cy="1078992"/>
          </a:xfrm>
          <a:prstGeom prst="rect">
            <a:avLst/>
          </a:prstGeom>
          <a:solidFill>
            <a:srgbClr val="7656D6"/>
          </a:solidFill>
          <a:ln w="12700">
            <a:solidFill>
              <a:srgbClr val="76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26080"/>
            <a:ext cx="4846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进程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355848"/>
            <a:ext cx="48463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check-up index · elapsed days · throughput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761488"/>
            <a:ext cx="5230368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2761488"/>
            <a:ext cx="64008" cy="1078992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926080"/>
            <a:ext cx="4846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D_CORE / EIS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355848"/>
            <a:ext cx="48463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27 frequencies × compensated Re / Im = 54 values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315968"/>
            <a:ext cx="10735056" cy="1097280"/>
          </a:xfrm>
          <a:prstGeom prst="round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590288"/>
            <a:ext cx="20116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7C2D1"/>
                </a:solidFill>
                <a:latin typeface="Microsoft YaHei"/>
              </a:defRPr>
            </a:pPr>
            <a:r>
              <a:t>PREFIX-ONLY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4572000"/>
            <a:ext cx="42976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预测时点 t 的输入只能来自 t 及以前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590288"/>
            <a:ext cx="3611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2A93B"/>
                </a:solidFill>
                <a:latin typeface="Microsoft YaHei"/>
              </a:defRPr>
            </a:pPr>
            <a:r>
              <a:t>不读 t+1 … t+3 future values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687568"/>
            <a:ext cx="105156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50" b="0">
                <a:solidFill>
                  <a:srgbClr val="627089"/>
                </a:solidFill>
                <a:latin typeface="Microsoft YaHei"/>
              </a:defRPr>
            </a:pPr>
            <a:r>
              <a:t>B 与 D_CORE 使用同一快照/label/fold；EIS 缺失用训练折规则处理，所有 preprocessing 只在 training conditions 拟合。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 vs D_CORE/EIS  ·  NO PROTECTED TEST  ·  NO SELECTION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08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验证设计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8. 数据怎么分：完整 condition holdout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23774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3478F6"/>
                </a:solidFill>
                <a:latin typeface="Microsoft YaHei"/>
              </a:defRPr>
            </a:pPr>
            <a:r>
              <a:t>每种 ageing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2928" y="1417320"/>
            <a:ext cx="3657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7C2D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417320"/>
            <a:ext cx="4023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72033"/>
                </a:solidFill>
                <a:latin typeface="Microsoft YaHei"/>
              </a:defRPr>
            </a:pPr>
            <a:r>
              <a:t>3 个 outer condition-group folds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340156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6968" y="2267712"/>
            <a:ext cx="960120" cy="310896"/>
          </a:xfrm>
          <a:prstGeom prst="roundRect">
            <a:avLst/>
          </a:prstGeom>
          <a:solidFill>
            <a:srgbClr val="E8F9FA"/>
          </a:solidFill>
          <a:ln w="12700">
            <a:solidFill>
              <a:srgbClr val="E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295144"/>
            <a:ext cx="868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3478F6"/>
                </a:solidFill>
                <a:latin typeface="Microsoft YaHei"/>
              </a:defRPr>
            </a:pPr>
            <a:r>
              <a:t>FOLD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9776"/>
            <a:ext cx="960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1B57A"/>
                </a:solidFill>
                <a:latin typeface="Microsoft YaHei"/>
              </a:defRPr>
            </a:pPr>
            <a:r>
              <a:t>TRAIN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6232" y="2679192"/>
            <a:ext cx="1920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172033"/>
                </a:solidFill>
                <a:latin typeface="Microsoft YaHei"/>
              </a:defRPr>
            </a:pPr>
            <a:r>
              <a:t>其余 conditions</a:t>
            </a:r>
          </a:p>
          <a:p>
            <a:pPr algn="l">
              <a:spcAft>
                <a:spcPts val="0"/>
              </a:spcAft>
              <a:defRPr sz="900" b="0">
                <a:solidFill>
                  <a:srgbClr val="172033"/>
                </a:solidFill>
                <a:latin typeface="Microsoft YaHei"/>
              </a:defRPr>
            </a:pPr>
            <a:r>
              <a:t>拟合 preprocessing +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47288"/>
            <a:ext cx="960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E45B5B"/>
                </a:solidFill>
                <a:latin typeface="Microsoft YaHei"/>
              </a:defRPr>
            </a:pPr>
            <a:r>
              <a:t>HOLD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6232" y="3346704"/>
            <a:ext cx="1920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172033"/>
                </a:solidFill>
                <a:latin typeface="Microsoft YaHei"/>
              </a:defRPr>
            </a:pPr>
            <a:r>
              <a:t>完整 condition</a:t>
            </a:r>
          </a:p>
          <a:p>
            <a:pPr algn="l">
              <a:spcAft>
                <a:spcPts val="0"/>
              </a:spcAft>
              <a:defRPr sz="900" b="0">
                <a:solidFill>
                  <a:srgbClr val="172033"/>
                </a:solidFill>
                <a:latin typeface="Microsoft YaHei"/>
              </a:defRPr>
            </a:pPr>
            <a:r>
              <a:t>3 cells + 全部 check-ups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8" y="2057400"/>
            <a:ext cx="340156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62855" y="2267712"/>
            <a:ext cx="960120" cy="310896"/>
          </a:xfrm>
          <a:prstGeom prst="roundRect">
            <a:avLst/>
          </a:prstGeom>
          <a:solidFill>
            <a:srgbClr val="E8F9FA"/>
          </a:solidFill>
          <a:ln w="12700">
            <a:solidFill>
              <a:srgbClr val="E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8575" y="2295144"/>
            <a:ext cx="868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3478F6"/>
                </a:solidFill>
                <a:latin typeface="Microsoft YaHei"/>
              </a:defRPr>
            </a:pPr>
            <a:r>
              <a:t>FOLD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779776"/>
            <a:ext cx="960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1B57A"/>
                </a:solidFill>
                <a:latin typeface="Microsoft YaHei"/>
              </a:defRPr>
            </a:pPr>
            <a:r>
              <a:t>TRAIN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2679192"/>
            <a:ext cx="1920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172033"/>
                </a:solidFill>
                <a:latin typeface="Microsoft YaHei"/>
              </a:defRPr>
            </a:pPr>
            <a:r>
              <a:t>其余 conditions</a:t>
            </a:r>
          </a:p>
          <a:p>
            <a:pPr algn="l">
              <a:spcAft>
                <a:spcPts val="0"/>
              </a:spcAft>
              <a:defRPr sz="900" b="0">
                <a:solidFill>
                  <a:srgbClr val="172033"/>
                </a:solidFill>
                <a:latin typeface="Microsoft YaHei"/>
              </a:defRPr>
            </a:pPr>
            <a:r>
              <a:t>拟合 preprocessing +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3447288"/>
            <a:ext cx="960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E45B5B"/>
                </a:solidFill>
                <a:latin typeface="Microsoft YaHei"/>
              </a:defRPr>
            </a:pPr>
            <a:r>
              <a:t>HOLD 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3346704"/>
            <a:ext cx="1920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172033"/>
                </a:solidFill>
                <a:latin typeface="Microsoft YaHei"/>
              </a:defRPr>
            </a:pPr>
            <a:r>
              <a:t>完整 condition</a:t>
            </a:r>
          </a:p>
          <a:p>
            <a:pPr algn="l">
              <a:spcAft>
                <a:spcPts val="0"/>
              </a:spcAft>
              <a:defRPr sz="900" b="0">
                <a:solidFill>
                  <a:srgbClr val="172033"/>
                </a:solidFill>
                <a:latin typeface="Microsoft YaHei"/>
              </a:defRPr>
            </a:pPr>
            <a:r>
              <a:t>3 cells + 全部 check-ups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37575" y="2057400"/>
            <a:ext cx="340156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38744" y="2267712"/>
            <a:ext cx="960120" cy="310896"/>
          </a:xfrm>
          <a:prstGeom prst="roundRect">
            <a:avLst/>
          </a:prstGeom>
          <a:solidFill>
            <a:srgbClr val="E8F9FA"/>
          </a:solidFill>
          <a:ln w="12700">
            <a:solidFill>
              <a:srgbClr val="E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4464" y="2295144"/>
            <a:ext cx="868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3478F6"/>
                </a:solidFill>
                <a:latin typeface="Microsoft YaHei"/>
              </a:defRPr>
            </a:pPr>
            <a:r>
              <a:t>FOLD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5" y="2779776"/>
            <a:ext cx="960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1B57A"/>
                </a:solidFill>
                <a:latin typeface="Microsoft YaHei"/>
              </a:defRPr>
            </a:pPr>
            <a:r>
              <a:t>TRAIN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007" y="2679192"/>
            <a:ext cx="1920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172033"/>
                </a:solidFill>
                <a:latin typeface="Microsoft YaHei"/>
              </a:defRPr>
            </a:pPr>
            <a:r>
              <a:t>其余 conditions</a:t>
            </a:r>
          </a:p>
          <a:p>
            <a:pPr algn="l">
              <a:spcAft>
                <a:spcPts val="0"/>
              </a:spcAft>
              <a:defRPr sz="900" b="0">
                <a:solidFill>
                  <a:srgbClr val="172033"/>
                </a:solidFill>
                <a:latin typeface="Microsoft YaHei"/>
              </a:defRPr>
            </a:pPr>
            <a:r>
              <a:t>拟合 preprocessing + models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5" y="3447288"/>
            <a:ext cx="960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E45B5B"/>
                </a:solidFill>
                <a:latin typeface="Microsoft YaHei"/>
              </a:defRPr>
            </a:pPr>
            <a:r>
              <a:t>HOLD 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8007" y="3346704"/>
            <a:ext cx="1920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172033"/>
                </a:solidFill>
                <a:latin typeface="Microsoft YaHei"/>
              </a:defRPr>
            </a:pPr>
            <a:r>
              <a:t>完整 condition</a:t>
            </a:r>
          </a:p>
          <a:p>
            <a:pPr algn="l">
              <a:spcAft>
                <a:spcPts val="0"/>
              </a:spcAft>
              <a:defRPr sz="900" b="0">
                <a:solidFill>
                  <a:srgbClr val="172033"/>
                </a:solidFill>
                <a:latin typeface="Microsoft YaHei"/>
              </a:defRPr>
            </a:pPr>
            <a:r>
              <a:t>3 cells + 全部 check-ups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443984"/>
            <a:ext cx="10753344" cy="713232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E4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636008"/>
            <a:ext cx="10287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E45B5B"/>
                </a:solidFill>
                <a:latin typeface="Microsoft YaHei"/>
              </a:defRPr>
            </a:pPr>
            <a:r>
              <a:t>禁止 random row / random check-up / fragmented-cell split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559552"/>
            <a:ext cx="107442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172033"/>
                </a:solidFill>
                <a:latin typeface="Microsoft YaHei"/>
              </a:defRPr>
            </a:pPr>
            <a:r>
              <a:t>这是 development OOF：模拟“新的 operating condition”，不是 protected external test。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 vs D_CORE/EIS  ·  NO PROTECTED TEST  ·  NO SELECTION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09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变量选择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9. Variable selection：先不做 outcome-driven 筛选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371600"/>
            <a:ext cx="3657600" cy="4434840"/>
          </a:xfrm>
          <a:prstGeom prst="round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154680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2700" b="1">
                <a:solidFill>
                  <a:srgbClr val="27C2D1"/>
                </a:solidFill>
                <a:latin typeface="Microsoft YaHei"/>
              </a:defRPr>
            </a:pPr>
            <a:r>
              <a:t>LOCKED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59152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B: 12 + D_CORE: 54 EIS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44368"/>
            <a:ext cx="31546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BAC8DA"/>
                </a:solidFill>
                <a:latin typeface="Microsoft YaHei"/>
              </a:defRPr>
            </a:pPr>
            <a:r>
              <a:t>pre-specified features</a:t>
            </a:r>
          </a:p>
          <a:p>
            <a:pPr algn="ctr">
              <a:spcAft>
                <a:spcPts val="0"/>
              </a:spcAft>
              <a:defRPr sz="1200" b="0">
                <a:solidFill>
                  <a:srgbClr val="BAC8DA"/>
                </a:solidFill>
                <a:latin typeface="Microsoft YaHei"/>
              </a:defRPr>
            </a:pPr>
            <a:r>
              <a:t>+ leakage rules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8992" y="4023360"/>
            <a:ext cx="2788920" cy="310896"/>
          </a:xfrm>
          <a:prstGeom prst="roundRect">
            <a:avLst/>
          </a:prstGeom>
          <a:solidFill>
            <a:srgbClr val="362B3D"/>
          </a:solidFill>
          <a:ln w="12700">
            <a:solidFill>
              <a:srgbClr val="36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4050792"/>
            <a:ext cx="2697479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F2A93B"/>
                </a:solidFill>
                <a:latin typeface="Microsoft YaHei"/>
              </a:defRPr>
            </a:pPr>
            <a:r>
              <a:t>selection_performed = false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00016"/>
            <a:ext cx="31546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原因：每个 mode 的可用独立 conditions 有限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45152" y="1371600"/>
            <a:ext cx="3246120" cy="1234440"/>
          </a:xfrm>
          <a:prstGeom prst="roundRect">
            <a:avLst/>
          </a:prstGeom>
          <a:solidFill>
            <a:srgbClr val="FDEEEE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45152" y="1371600"/>
            <a:ext cx="64008" cy="1234440"/>
          </a:xfrm>
          <a:prstGeom prst="rect">
            <a:avLst/>
          </a:prstGeom>
          <a:solidFill>
            <a:srgbClr val="E45B5B"/>
          </a:solidFill>
          <a:ln w="12700">
            <a:solidFill>
              <a:srgbClr val="E4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55464" y="1536192"/>
            <a:ext cx="28620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不按 correlation 筛变量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5464" y="1965960"/>
            <a:ext cx="2862072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不使用全数据 outcome 做筛选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371600"/>
            <a:ext cx="3246120" cy="1234440"/>
          </a:xfrm>
          <a:prstGeom prst="roundRect">
            <a:avLst/>
          </a:prstGeom>
          <a:solidFill>
            <a:srgbClr val="FDEEEE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3024" y="1371600"/>
            <a:ext cx="64008" cy="1234440"/>
          </a:xfrm>
          <a:prstGeom prst="rect">
            <a:avLst/>
          </a:prstGeom>
          <a:solidFill>
            <a:srgbClr val="E45B5B"/>
          </a:solidFill>
          <a:ln w="12700">
            <a:solidFill>
              <a:srgbClr val="E4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1536192"/>
            <a:ext cx="28620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不看 holdout 改变量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1965960"/>
            <a:ext cx="2862072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不删除“不好看”的输入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45152" y="2852928"/>
            <a:ext cx="3246120" cy="1234440"/>
          </a:xfrm>
          <a:prstGeom prst="roundRect">
            <a:avLst/>
          </a:prstGeom>
          <a:solidFill>
            <a:srgbClr val="EAF8F1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852928"/>
            <a:ext cx="64008" cy="1234440"/>
          </a:xfrm>
          <a:prstGeom prst="rect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55464" y="3017520"/>
            <a:ext cx="28620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ElasticNet shrinkage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55464" y="3447288"/>
            <a:ext cx="2862072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用正则化控制线性复杂度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93024" y="2852928"/>
            <a:ext cx="3246120" cy="1234440"/>
          </a:xfrm>
          <a:prstGeom prst="roundRect">
            <a:avLst/>
          </a:prstGeom>
          <a:solidFill>
            <a:srgbClr val="F1EEFB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93024" y="2852928"/>
            <a:ext cx="64008" cy="1234440"/>
          </a:xfrm>
          <a:prstGeom prst="rect">
            <a:avLst/>
          </a:prstGeom>
          <a:solidFill>
            <a:srgbClr val="7656D6"/>
          </a:solidFill>
          <a:ln w="12700">
            <a:solidFill>
              <a:srgbClr val="76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03336" y="3017520"/>
            <a:ext cx="28620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HGB 固定复杂度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3336" y="3447288"/>
            <a:ext cx="2862072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浅树、有限 leaves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45152" y="4334256"/>
            <a:ext cx="6793992" cy="1472184"/>
          </a:xfrm>
          <a:prstGeom prst="roundRect">
            <a:avLst/>
          </a:prstGeom>
          <a:solidFill>
            <a:srgbClr val="FFF5E4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45152" y="4334256"/>
            <a:ext cx="64008" cy="147218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55464" y="4498848"/>
            <a:ext cx="64099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没有调参 / ensemble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55464" y="4928616"/>
            <a:ext cx="6409944" cy="7223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未来如要筛变量，只能在 condition-grouped inner CV 中重新冻结方案。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 vs D_CORE/EIS  ·  NO PROTECTED TEST  ·  NO SELECTION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模型对照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10. 为什么是两条 baseline + 两个模型？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99032"/>
            <a:ext cx="251460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99032"/>
            <a:ext cx="64008" cy="2423160"/>
          </a:xfrm>
          <a:prstGeom prst="rect">
            <a:avLst/>
          </a:prstGeom>
          <a:solidFill>
            <a:srgbClr val="627089"/>
          </a:solidFill>
          <a:ln w="12700">
            <a:solidFill>
              <a:srgbClr val="627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63624"/>
            <a:ext cx="213055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Persistence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93392"/>
            <a:ext cx="2130552" cy="1673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未来不下降</a:t>
            </a: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作用：最低门槛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1399032"/>
            <a:ext cx="251460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01568" y="1399032"/>
            <a:ext cx="64008" cy="2423160"/>
          </a:xfrm>
          <a:prstGeom prst="rect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1563624"/>
            <a:ext cx="213055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Recent slope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1993392"/>
            <a:ext cx="2130552" cy="1673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最近下降速度 × 3</a:t>
            </a: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作用：强透明基线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399032"/>
            <a:ext cx="251460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63056" y="1399032"/>
            <a:ext cx="64008" cy="2423160"/>
          </a:xfrm>
          <a:prstGeom prst="rect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563624"/>
            <a:ext cx="213055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ElasticNet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1993392"/>
            <a:ext cx="2130552" cy="1673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正则化线性回归</a:t>
            </a: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作用：线性组合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24544" y="1399032"/>
            <a:ext cx="251460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24544" y="1399032"/>
            <a:ext cx="64008" cy="2423160"/>
          </a:xfrm>
          <a:prstGeom prst="rect">
            <a:avLst/>
          </a:prstGeom>
          <a:solidFill>
            <a:srgbClr val="7656D6"/>
          </a:solidFill>
          <a:ln w="12700">
            <a:solidFill>
              <a:srgbClr val="76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4856" y="1563624"/>
            <a:ext cx="213055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HGB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856" y="1993392"/>
            <a:ext cx="2130552" cy="1673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受约束树模型</a:t>
            </a: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作用：非线性 / 交互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" y="4315968"/>
            <a:ext cx="22677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" y="4389120"/>
            <a:ext cx="2121408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172033"/>
                </a:solidFill>
                <a:latin typeface="Microsoft YaHei"/>
              </a:defRPr>
            </a:pPr>
            <a:r>
              <a:t>3 modes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9544" y="4498848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7C2D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38728" y="4315968"/>
            <a:ext cx="22677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1880" y="4389120"/>
            <a:ext cx="2121408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172033"/>
                </a:solidFill>
                <a:latin typeface="Microsoft YaHei"/>
              </a:defRPr>
            </a:pPr>
            <a:r>
              <a:t>3 folds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4498848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7C2D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35624" y="4315968"/>
            <a:ext cx="22677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8776" y="4389120"/>
            <a:ext cx="2121408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172033"/>
                </a:solidFill>
                <a:latin typeface="Microsoft YaHei"/>
              </a:defRPr>
            </a:pPr>
            <a:r>
              <a:t>B + D_CORE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3336" y="4498848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7C2D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32519" y="4315968"/>
            <a:ext cx="22677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05672" y="4389120"/>
            <a:ext cx="2121408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172033"/>
                </a:solidFill>
                <a:latin typeface="Microsoft YaHei"/>
              </a:defRPr>
            </a:pPr>
            <a:r>
              <a:t>54 fits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413248"/>
            <a:ext cx="4983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172033"/>
                </a:solidFill>
                <a:latin typeface="Microsoft YaHei"/>
              </a:defRPr>
            </a:pPr>
            <a:r>
              <a:t>每种 mode：B 与 D_CORE 各 3 folds × 2 fitted models = 12 fits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5413248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627089"/>
                </a:solidFill>
                <a:latin typeface="Microsoft YaHei"/>
              </a:defRPr>
            </a:pPr>
            <a:r>
              <a:t>Baselines 只在 B 报告；D_CORE 只比较 ElasticNet / HGB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34440" y="5897880"/>
            <a:ext cx="9738360" cy="310896"/>
          </a:xfrm>
          <a:prstGeom prst="roundRect">
            <a:avLst/>
          </a:prstGeom>
          <a:solidFill>
            <a:srgbClr val="FFF5E4"/>
          </a:solidFill>
          <a:ln w="12700">
            <a:solidFill>
              <a:srgbClr val="F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5925312"/>
            <a:ext cx="9646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F2A93B"/>
                </a:solidFill>
                <a:latin typeface="Microsoft YaHei"/>
              </a:defRPr>
            </a:pPr>
            <a:r>
              <a:t>这不是模型大赛：复杂模型必须稳定超过 recent slope 才值得增加复杂度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 vs D_CORE/EIS  ·  NO PROTECTED TEST  ·  NO SELECTION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可追溯产物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11. Training + review gates：结果先停在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1828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2700" b="1">
                <a:solidFill>
                  <a:srgbClr val="3478F6"/>
                </a:solidFill>
                <a:latin typeface="Microsoft YaHei"/>
              </a:defRPr>
            </a:pPr>
            <a:r>
              <a:t>2,919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39112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627089"/>
                </a:solidFill>
                <a:latin typeface="Microsoft YaHei"/>
              </a:defRPr>
            </a:pPr>
            <a:r>
              <a:t>eligible snapshots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627632"/>
            <a:ext cx="38404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627089"/>
                </a:solidFill>
                <a:latin typeface="Microsoft YaHei"/>
              </a:defRPr>
            </a:pPr>
            <a:r>
              <a:t>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2384" y="1481328"/>
            <a:ext cx="109728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2700" b="1">
                <a:solidFill>
                  <a:srgbClr val="7656D6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039112"/>
            <a:ext cx="17556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627089"/>
                </a:solidFill>
                <a:latin typeface="Microsoft YaHei"/>
              </a:defRPr>
            </a:pPr>
            <a:r>
              <a:t>view × model streams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1627632"/>
            <a:ext cx="38404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627089"/>
                </a:solidFill>
                <a:latin typeface="Microsoft YaHei"/>
              </a:defRPr>
            </a:pPr>
            <a:r>
              <a:t>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481328"/>
            <a:ext cx="2084831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2700" b="1">
                <a:solidFill>
                  <a:srgbClr val="31B57A"/>
                </a:solidFill>
                <a:latin typeface="Microsoft YaHei"/>
              </a:defRPr>
            </a:pPr>
            <a:r>
              <a:t>23,352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039112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627089"/>
                </a:solidFill>
                <a:latin typeface="Microsoft YaHei"/>
              </a:defRPr>
            </a:pPr>
            <a:r>
              <a:t>OOF prediction 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371600"/>
            <a:ext cx="3657600" cy="1170432"/>
          </a:xfrm>
          <a:prstGeom prst="roundRect">
            <a:avLst/>
          </a:prstGeom>
          <a:solidFill>
            <a:srgbClr val="EAF8F1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1627632"/>
            <a:ext cx="1463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31B57A"/>
                </a:solidFill>
                <a:latin typeface="Microsoft YaHei"/>
              </a:defRPr>
            </a:pPr>
            <a:r>
              <a:t>54 / 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45752" y="1728216"/>
            <a:ext cx="1645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172033"/>
                </a:solidFill>
                <a:latin typeface="Microsoft YaHei"/>
              </a:defRPr>
            </a:pPr>
            <a:r>
              <a:t>planned / completed fits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044952"/>
            <a:ext cx="152095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3118104"/>
            <a:ext cx="1374648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172033"/>
                </a:solidFill>
                <a:latin typeface="Microsoft YaHei"/>
              </a:defRPr>
            </a:pPr>
            <a:r>
              <a:t>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79320" y="3227832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08504" y="3044952"/>
            <a:ext cx="152095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81656" y="3118104"/>
            <a:ext cx="1374648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172033"/>
                </a:solidFill>
                <a:latin typeface="Microsoft YaHei"/>
              </a:defRPr>
            </a:pPr>
            <a:r>
              <a:t>snapshot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9455" y="3227832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8640" y="3044952"/>
            <a:ext cx="152095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1792" y="3118104"/>
            <a:ext cx="1374648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172033"/>
                </a:solidFill>
                <a:latin typeface="Microsoft YaHei"/>
              </a:defRPr>
            </a:pPr>
            <a:r>
              <a:t>fold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9592" y="3227832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8776" y="3044952"/>
            <a:ext cx="152095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1928" y="3118104"/>
            <a:ext cx="1374648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172033"/>
                </a:solidFill>
                <a:latin typeface="Microsoft YaHei"/>
              </a:defRPr>
            </a:pPr>
            <a:r>
              <a:t>prediction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9728" y="3227832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58912" y="3044952"/>
            <a:ext cx="152095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2064" y="3118104"/>
            <a:ext cx="1374648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172033"/>
                </a:solidFill>
                <a:latin typeface="Microsoft YaHei"/>
              </a:defRPr>
            </a:pPr>
            <a:r>
              <a:t>summary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79864" y="3227832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09048" y="3044952"/>
            <a:ext cx="152095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82200" y="3118104"/>
            <a:ext cx="1374648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172033"/>
                </a:solidFill>
                <a:latin typeface="Microsoft YaHei"/>
              </a:defRPr>
            </a:pPr>
            <a:r>
              <a:t>manifest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4005072"/>
            <a:ext cx="57607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3478F6"/>
                </a:solidFill>
                <a:latin typeface="Microsoft YaHei"/>
              </a:defRPr>
            </a:pPr>
            <a:r>
              <a:t>SHA-256 lineage binds every stage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590288"/>
            <a:ext cx="6876288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4590288"/>
            <a:ext cx="64008" cy="1188720"/>
          </a:xfrm>
          <a:prstGeom prst="rect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4754879"/>
            <a:ext cx="64922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RUN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184648"/>
            <a:ext cx="64922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kit-f1-paired-b-dcore-dev-v2-20260802T201053-cdt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18120" y="4590288"/>
            <a:ext cx="3611880" cy="1188720"/>
          </a:xfrm>
          <a:prstGeom prst="roundRect">
            <a:avLst/>
          </a:prstGeom>
          <a:solidFill>
            <a:srgbClr val="EAF8F1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818120" y="4590288"/>
            <a:ext cx="64008" cy="1188720"/>
          </a:xfrm>
          <a:prstGeom prst="rect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28432" y="4754879"/>
            <a:ext cx="322783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MANIFEST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28432" y="5184648"/>
            <a:ext cx="322783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status = validated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6007608"/>
            <a:ext cx="107167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50" b="1">
                <a:solidFill>
                  <a:srgbClr val="E45B5B"/>
                </a:solidFill>
                <a:latin typeface="Microsoft YaHei"/>
              </a:defRPr>
            </a:pPr>
            <a:r>
              <a:t>validated = 结构 / 数量 / hash / 契约通过；不等于科学发表或生产批准。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 vs D_CORE/EIS  ·  NO PROTECTED TEST  ·  NO SELECTION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评估协议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12. 怎样评估：condition-balanced MAE 为主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244144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490472"/>
            <a:ext cx="2295144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172033"/>
                </a:solidFill>
                <a:latin typeface="Microsoft YaHei"/>
              </a:defRPr>
            </a:pPr>
            <a:r>
              <a:t>每个 held-out 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99815" y="1600200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17320"/>
            <a:ext cx="244144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1490472"/>
            <a:ext cx="2295144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172033"/>
                </a:solidFill>
                <a:latin typeface="Microsoft YaHei"/>
              </a:defRPr>
            </a:pPr>
            <a:r>
              <a:t>计算 MAE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0448" y="1600200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1" y="1417320"/>
            <a:ext cx="244144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2783" y="1490472"/>
            <a:ext cx="2295144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172033"/>
                </a:solidFill>
                <a:latin typeface="Microsoft YaHei"/>
              </a:defRPr>
            </a:pPr>
            <a:r>
              <a:t>每个 condition 等权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1600200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0264" y="1417320"/>
            <a:ext cx="244144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3416" y="1490472"/>
            <a:ext cx="2295144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172033"/>
                </a:solidFill>
                <a:latin typeface="Microsoft YaHei"/>
              </a:defRPr>
            </a:pPr>
            <a:r>
              <a:t>跨 condition 平均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615184"/>
            <a:ext cx="3657600" cy="2240280"/>
          </a:xfrm>
          <a:prstGeom prst="round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898648"/>
            <a:ext cx="318211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27C2D1"/>
                </a:solidFill>
                <a:latin typeface="Microsoft YaHei"/>
              </a:defRPr>
            </a:pPr>
            <a:r>
              <a:t>PRIMARY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401568"/>
            <a:ext cx="3182112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Condition-balanced</a:t>
            </a:r>
          </a:p>
          <a:p>
            <a:pPr algn="ctr"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MAE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343400"/>
            <a:ext cx="31821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B7C6D9"/>
                </a:solidFill>
                <a:latin typeface="Microsoft YaHei"/>
              </a:defRPr>
            </a:pPr>
            <a:r>
              <a:t>单位：SoH 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45152" y="2615184"/>
            <a:ext cx="3172968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615184"/>
            <a:ext cx="64008" cy="960120"/>
          </a:xfrm>
          <a:prstGeom prst="rect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55464" y="2779776"/>
            <a:ext cx="2788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Median AE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55464" y="3209544"/>
            <a:ext cx="278892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secondary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1583" y="2615184"/>
            <a:ext cx="3172968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1583" y="2615184"/>
            <a:ext cx="64008" cy="960120"/>
          </a:xfrm>
          <a:prstGeom prst="rect">
            <a:avLst/>
          </a:prstGeom>
          <a:solidFill>
            <a:srgbClr val="7656D6"/>
          </a:solidFill>
          <a:ln w="12700">
            <a:solidFill>
              <a:srgbClr val="76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11896" y="2779776"/>
            <a:ext cx="2788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RMSE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6" y="3209544"/>
            <a:ext cx="278892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secondary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45152" y="3822191"/>
            <a:ext cx="3172968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45152" y="3822191"/>
            <a:ext cx="64008" cy="9601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55464" y="3986783"/>
            <a:ext cx="2788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Signed bias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55464" y="4416552"/>
            <a:ext cx="278892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secondary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1583" y="3822191"/>
            <a:ext cx="3172968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01583" y="3822191"/>
            <a:ext cx="64008" cy="960120"/>
          </a:xfrm>
          <a:prstGeom prst="rect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11896" y="3986783"/>
            <a:ext cx="2788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R²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1896" y="4416552"/>
            <a:ext cx="278892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secondary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45152" y="5129784"/>
            <a:ext cx="6629400" cy="658368"/>
          </a:xfrm>
          <a:prstGeom prst="roundRect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64608" y="5312664"/>
            <a:ext cx="619048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2A93B"/>
                </a:solidFill>
                <a:latin typeface="Microsoft YaHei"/>
              </a:defRPr>
            </a:pPr>
            <a:r>
              <a:t>MAE 与 R² 可能排序不同；不能事后挑好看的指标。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788152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50" b="0">
                <a:solidFill>
                  <a:srgbClr val="627089"/>
                </a:solidFill>
                <a:latin typeface="Microsoft YaHei"/>
              </a:defRPr>
            </a:pPr>
            <a:r>
              <a:t>当前运行没有 per-prediction interval。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 vs D_CORE/EIS  ·  NO PROTECTED TEST  ·  NO SELECTION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结果 · CALENDAR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13. Calendar：B 与 D_CORE/EIS 几乎相同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44168" y="4224528"/>
            <a:ext cx="4389120" cy="9144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123944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627089"/>
                </a:solidFill>
                <a:latin typeface="Microsoft YaHei"/>
              </a:defRPr>
            </a:pPr>
            <a:r>
              <a:t>0.0</a:t>
            </a:r>
          </a:p>
        </p:txBody>
      </p:sp>
      <p:sp>
        <p:nvSpPr>
          <p:cNvPr id="7" name="Rectangle 6"/>
          <p:cNvSpPr/>
          <p:nvPr/>
        </p:nvSpPr>
        <p:spPr>
          <a:xfrm>
            <a:off x="1344168" y="3550158"/>
            <a:ext cx="4389120" cy="9144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449574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627089"/>
                </a:solidFill>
                <a:latin typeface="Microsoft YaHei"/>
              </a:defRPr>
            </a:pPr>
            <a:r>
              <a:t>0.1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4168" y="2875788"/>
            <a:ext cx="4389120" cy="9144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775204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627089"/>
                </a:solidFill>
                <a:latin typeface="Microsoft YaHei"/>
              </a:defRPr>
            </a:pPr>
            <a:r>
              <a:t>0.2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44168" y="2201418"/>
            <a:ext cx="4389120" cy="9144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100834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627089"/>
                </a:solidFill>
                <a:latin typeface="Microsoft YaHei"/>
              </a:defRPr>
            </a:pPr>
            <a:r>
              <a:t>0.2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44168" y="1527048"/>
            <a:ext cx="4389120" cy="9144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26463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627089"/>
                </a:solidFill>
                <a:latin typeface="Microsoft YaHei"/>
              </a:defRPr>
            </a:pPr>
            <a:r>
              <a:t>0.3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96542" y="2462736"/>
            <a:ext cx="546811" cy="1761791"/>
          </a:xfrm>
          <a:prstGeom prst="rect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86814" y="2188416"/>
            <a:ext cx="766267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3478F6"/>
                </a:solidFill>
                <a:latin typeface="Microsoft YaHei"/>
              </a:defRPr>
            </a:pPr>
            <a:r>
              <a:t>0.209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5374" y="4315968"/>
            <a:ext cx="949147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770" b="0">
                <a:solidFill>
                  <a:srgbClr val="172033"/>
                </a:solidFill>
                <a:latin typeface="Microsoft YaHei"/>
              </a:defRPr>
            </a:pPr>
            <a:r>
              <a:t>B</a:t>
            </a:r>
          </a:p>
          <a:p>
            <a:pPr algn="ctr">
              <a:spcAft>
                <a:spcPts val="0"/>
              </a:spcAft>
              <a:defRPr sz="770" b="0">
                <a:solidFill>
                  <a:srgbClr val="172033"/>
                </a:solidFill>
                <a:latin typeface="Microsoft YaHei"/>
              </a:defRPr>
            </a:pPr>
            <a:r>
              <a:t>Elastic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48102" y="2032825"/>
            <a:ext cx="546811" cy="2191702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38374" y="1758505"/>
            <a:ext cx="766267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F2A93B"/>
                </a:solidFill>
                <a:latin typeface="Microsoft YaHei"/>
              </a:defRPr>
            </a:pPr>
            <a:r>
              <a:t>0.260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46934" y="4315968"/>
            <a:ext cx="949147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770" b="0">
                <a:solidFill>
                  <a:srgbClr val="172033"/>
                </a:solidFill>
                <a:latin typeface="Microsoft YaHei"/>
              </a:defRPr>
            </a:pPr>
            <a:r>
              <a:t>D</a:t>
            </a:r>
          </a:p>
          <a:p>
            <a:pPr algn="ctr">
              <a:spcAft>
                <a:spcPts val="0"/>
              </a:spcAft>
              <a:defRPr sz="770" b="0">
                <a:solidFill>
                  <a:srgbClr val="172033"/>
                </a:solidFill>
                <a:latin typeface="Microsoft YaHei"/>
              </a:defRPr>
            </a:pPr>
            <a:r>
              <a:t>Elastic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99662" y="3052810"/>
            <a:ext cx="546811" cy="1171717"/>
          </a:xfrm>
          <a:prstGeom prst="rect">
            <a:avLst/>
          </a:prstGeom>
          <a:solidFill>
            <a:srgbClr val="7656D6"/>
          </a:solidFill>
          <a:ln w="12700">
            <a:solidFill>
              <a:srgbClr val="76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89934" y="2778490"/>
            <a:ext cx="766267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7656D6"/>
                </a:solidFill>
                <a:latin typeface="Microsoft YaHei"/>
              </a:defRPr>
            </a:pPr>
            <a:r>
              <a:t>0.139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8494" y="4315968"/>
            <a:ext cx="949147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770" b="0">
                <a:solidFill>
                  <a:srgbClr val="172033"/>
                </a:solidFill>
                <a:latin typeface="Microsoft YaHei"/>
              </a:defRPr>
            </a:pPr>
            <a:r>
              <a:t>B</a:t>
            </a:r>
          </a:p>
          <a:p>
            <a:pPr algn="ctr">
              <a:spcAft>
                <a:spcPts val="0"/>
              </a:spcAft>
              <a:defRPr sz="770" b="0">
                <a:solidFill>
                  <a:srgbClr val="172033"/>
                </a:solidFill>
                <a:latin typeface="Microsoft YaHei"/>
              </a:defRPr>
            </a:pPr>
            <a:r>
              <a:t>HGB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1222" y="3061239"/>
            <a:ext cx="546811" cy="1163288"/>
          </a:xfrm>
          <a:prstGeom prst="rect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1494" y="2786919"/>
            <a:ext cx="766267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31B57A"/>
                </a:solidFill>
                <a:latin typeface="Microsoft YaHei"/>
              </a:defRPr>
            </a:pPr>
            <a:r>
              <a:t>0.138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0054" y="4315968"/>
            <a:ext cx="949147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770" b="0">
                <a:solidFill>
                  <a:srgbClr val="172033"/>
                </a:solidFill>
                <a:latin typeface="Microsoft YaHei"/>
              </a:defRPr>
            </a:pPr>
            <a:r>
              <a:t>D</a:t>
            </a:r>
          </a:p>
          <a:p>
            <a:pPr algn="ctr">
              <a:spcAft>
                <a:spcPts val="0"/>
              </a:spcAft>
              <a:defRPr sz="770" b="0">
                <a:solidFill>
                  <a:srgbClr val="172033"/>
                </a:solidFill>
                <a:latin typeface="Microsoft YaHei"/>
              </a:defRPr>
            </a:pPr>
            <a:r>
              <a:t>HGB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389888"/>
            <a:ext cx="1554480" cy="576072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0488" y="1481328"/>
            <a:ext cx="146303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View / model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99248" y="1389888"/>
            <a:ext cx="713232" cy="576072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44968" y="1481328"/>
            <a:ext cx="621792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MAE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0" y="1389888"/>
            <a:ext cx="960120" cy="576072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1481328"/>
            <a:ext cx="868680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Median AE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72600" y="1389888"/>
            <a:ext cx="713232" cy="576072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0" y="1481328"/>
            <a:ext cx="621792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RMSE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85832" y="1389888"/>
            <a:ext cx="694944" cy="576072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31552" y="1481328"/>
            <a:ext cx="603504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R²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44768" y="1965960"/>
            <a:ext cx="15544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90488" y="2039112"/>
            <a:ext cx="1463039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B / Elastic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99248" y="1965960"/>
            <a:ext cx="71323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44968" y="2039112"/>
            <a:ext cx="621792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0.209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0" y="1965960"/>
            <a:ext cx="9601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2039112"/>
            <a:ext cx="868680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0.121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72600" y="1965960"/>
            <a:ext cx="71323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8320" y="2039112"/>
            <a:ext cx="621792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0.362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85832" y="1965960"/>
            <a:ext cx="694944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31552" y="2039112"/>
            <a:ext cx="603504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0.766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2542032"/>
            <a:ext cx="1554480" cy="576072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90488" y="2615184"/>
            <a:ext cx="1463039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D / Elastic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99248" y="2542032"/>
            <a:ext cx="713232" cy="576072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44968" y="2615184"/>
            <a:ext cx="621792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0.260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12480" y="2542032"/>
            <a:ext cx="960120" cy="576072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58200" y="2615184"/>
            <a:ext cx="868680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0.124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72600" y="2542032"/>
            <a:ext cx="713232" cy="576072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18320" y="2615184"/>
            <a:ext cx="621792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0.485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85832" y="2542032"/>
            <a:ext cx="694944" cy="576072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31552" y="2615184"/>
            <a:ext cx="603504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0.580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44768" y="3118104"/>
            <a:ext cx="15544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90488" y="3191256"/>
            <a:ext cx="1463039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B / HGB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99248" y="3118104"/>
            <a:ext cx="71323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44968" y="3191256"/>
            <a:ext cx="621792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0.139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12480" y="3118104"/>
            <a:ext cx="9601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58200" y="3191256"/>
            <a:ext cx="868680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0.058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72600" y="3118104"/>
            <a:ext cx="71323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18320" y="3191256"/>
            <a:ext cx="621792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0.284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85832" y="3118104"/>
            <a:ext cx="694944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31552" y="3191256"/>
            <a:ext cx="603504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0.856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44768" y="3694176"/>
            <a:ext cx="1554480" cy="576072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90488" y="3767328"/>
            <a:ext cx="1463039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D / HGB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699248" y="3694176"/>
            <a:ext cx="713232" cy="576072"/>
          </a:xfrm>
          <a:prstGeom prst="rect">
            <a:avLst/>
          </a:prstGeom>
          <a:solidFill>
            <a:srgbClr val="EAF8F1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744968" y="3767328"/>
            <a:ext cx="621792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1">
                <a:solidFill>
                  <a:srgbClr val="31B57A"/>
                </a:solidFill>
                <a:latin typeface="Microsoft YaHei"/>
              </a:defRPr>
            </a:pPr>
            <a:r>
              <a:t>0.138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412480" y="3694176"/>
            <a:ext cx="960120" cy="576072"/>
          </a:xfrm>
          <a:prstGeom prst="rect">
            <a:avLst/>
          </a:prstGeom>
          <a:solidFill>
            <a:srgbClr val="EAF8F1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58200" y="3767328"/>
            <a:ext cx="868680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1">
                <a:solidFill>
                  <a:srgbClr val="31B57A"/>
                </a:solidFill>
                <a:latin typeface="Microsoft YaHei"/>
              </a:defRPr>
            </a:pPr>
            <a:r>
              <a:t>0.059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372600" y="3694176"/>
            <a:ext cx="713232" cy="576072"/>
          </a:xfrm>
          <a:prstGeom prst="rect">
            <a:avLst/>
          </a:prstGeom>
          <a:solidFill>
            <a:srgbClr val="EAF8F1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418320" y="3767328"/>
            <a:ext cx="621792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1">
                <a:solidFill>
                  <a:srgbClr val="31B57A"/>
                </a:solidFill>
                <a:latin typeface="Microsoft YaHei"/>
              </a:defRPr>
            </a:pPr>
            <a:r>
              <a:t>0.283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085832" y="3694176"/>
            <a:ext cx="694944" cy="576072"/>
          </a:xfrm>
          <a:prstGeom prst="rect">
            <a:avLst/>
          </a:prstGeom>
          <a:solidFill>
            <a:srgbClr val="EAF8F1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131552" y="3767328"/>
            <a:ext cx="603504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1">
                <a:solidFill>
                  <a:srgbClr val="31B57A"/>
                </a:solidFill>
                <a:latin typeface="Microsoft YaHei"/>
              </a:defRPr>
            </a:pPr>
            <a:r>
              <a:t>0.857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656832" y="4361688"/>
            <a:ext cx="4343400" cy="310896"/>
          </a:xfrm>
          <a:prstGeom prst="roundRect">
            <a:avLst/>
          </a:prstGeom>
          <a:solidFill>
            <a:srgbClr val="E8F9FA"/>
          </a:solidFill>
          <a:ln w="12700">
            <a:solidFill>
              <a:srgbClr val="E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702552" y="4389120"/>
            <a:ext cx="4251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172033"/>
                </a:solidFill>
                <a:latin typeface="Microsoft YaHei"/>
              </a:defRPr>
            </a:pPr>
            <a:r>
              <a:t>16 conditions · 48 cells · 1,134 snapshots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58368" y="5065776"/>
            <a:ext cx="10716768" cy="749808"/>
          </a:xfrm>
          <a:prstGeom prst="roundRect">
            <a:avLst/>
          </a:prstGeom>
          <a:solidFill>
            <a:srgbClr val="EAF8F1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86968" y="5276088"/>
            <a:ext cx="1025956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31B57A"/>
                </a:solidFill>
                <a:latin typeface="Microsoft YaHei"/>
              </a:defRPr>
            </a:pPr>
            <a:r>
              <a:t>D_CORE−B MAE：Elastic +0.051 pp [−0.020, +0.144]；HGB −0.001 pp [−0.013, +0.009]。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8368" y="5989320"/>
            <a:ext cx="107167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50" b="1">
                <a:solidFill>
                  <a:srgbClr val="E45B5B"/>
                </a:solidFill>
                <a:latin typeface="Microsoft YaHei"/>
              </a:defRPr>
            </a:pPr>
            <a:r>
              <a:t>不能推导为 protected-test 或真实车队性能。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 vs D_CORE/EIS  ·  NO PROTECTED TEST  ·  NO SELECTION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结果 · CYCLIC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14. Cyclic：EIS 对 HGB 有诊断性改善，对 ElasticNet 变差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1920240" cy="64008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481328"/>
            <a:ext cx="1828800" cy="49377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2578608" y="1389888"/>
            <a:ext cx="1417320" cy="64008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4328" y="1481328"/>
            <a:ext cx="1325880" cy="49377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B MAE</a:t>
            </a:r>
          </a:p>
        </p:txBody>
      </p:sp>
      <p:sp>
        <p:nvSpPr>
          <p:cNvPr id="9" name="Rectangle 8"/>
          <p:cNvSpPr/>
          <p:nvPr/>
        </p:nvSpPr>
        <p:spPr>
          <a:xfrm>
            <a:off x="3995928" y="1389888"/>
            <a:ext cx="1691640" cy="64008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41648" y="1481328"/>
            <a:ext cx="1600200" cy="49377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D_CORE MAE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87568" y="1389888"/>
            <a:ext cx="1691640" cy="64008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33288" y="1481328"/>
            <a:ext cx="1600200" cy="49377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D − B (pp)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029967"/>
            <a:ext cx="1920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103120"/>
            <a:ext cx="1828800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ElasticNet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78608" y="2029967"/>
            <a:ext cx="14173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24328" y="2103120"/>
            <a:ext cx="1325880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5.113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95928" y="2029967"/>
            <a:ext cx="1691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41648" y="2103120"/>
            <a:ext cx="1600200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5.918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87568" y="2029967"/>
            <a:ext cx="1691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33288" y="2103120"/>
            <a:ext cx="1600200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+0.804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670048"/>
            <a:ext cx="1920240" cy="640080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2743200"/>
            <a:ext cx="1828800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HGB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78608" y="2670048"/>
            <a:ext cx="1417320" cy="640080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24328" y="2743200"/>
            <a:ext cx="1325880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5.809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95928" y="2670048"/>
            <a:ext cx="1691640" cy="640080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41648" y="2743200"/>
            <a:ext cx="1600200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5.184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87568" y="2670048"/>
            <a:ext cx="1691640" cy="640080"/>
          </a:xfrm>
          <a:prstGeom prst="rect">
            <a:avLst/>
          </a:prstGeom>
          <a:solidFill>
            <a:srgbClr val="EAF8F1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33288" y="2743200"/>
            <a:ext cx="1600200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1">
                <a:solidFill>
                  <a:srgbClr val="31B57A"/>
                </a:solidFill>
                <a:latin typeface="Microsoft YaHei"/>
              </a:defRPr>
            </a:pPr>
            <a:r>
              <a:t>−0.625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1389888"/>
            <a:ext cx="4069080" cy="3200400"/>
          </a:xfrm>
          <a:prstGeom prst="round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16952" y="1719072"/>
            <a:ext cx="35478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27C2D1"/>
                </a:solidFill>
                <a:latin typeface="Microsoft YaHei"/>
              </a:defRPr>
            </a:pPr>
            <a:r>
              <a:t>CYCLIC HGB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6096" y="2304288"/>
            <a:ext cx="3529584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−0.625 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6096" y="2779776"/>
            <a:ext cx="3529584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AFC1D5"/>
                </a:solidFill>
                <a:latin typeface="Microsoft YaHei"/>
              </a:defRPr>
            </a:pPr>
            <a:r>
              <a:t>D_CORE − B MAE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79" y="3227832"/>
            <a:ext cx="2880360" cy="9144"/>
          </a:xfrm>
          <a:prstGeom prst="rect">
            <a:avLst/>
          </a:prstGeom>
          <a:solidFill>
            <a:srgbClr val="37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26096" y="3493008"/>
            <a:ext cx="3529584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[−1.056, −0.241]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6096" y="3968496"/>
            <a:ext cx="3529584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AFC1D5"/>
                </a:solidFill>
                <a:latin typeface="Microsoft YaHei"/>
              </a:defRPr>
            </a:pPr>
            <a:r>
              <a:t>paired 95% bootstrap CI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727448"/>
            <a:ext cx="5230368" cy="987552"/>
          </a:xfrm>
          <a:prstGeom prst="roundRect">
            <a:avLst/>
          </a:prstGeom>
          <a:solidFill>
            <a:srgbClr val="EAF8F1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4727448"/>
            <a:ext cx="64008" cy="987552"/>
          </a:xfrm>
          <a:prstGeom prst="rect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892040"/>
            <a:ext cx="4846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CYCLIC SUPPORT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321808"/>
            <a:ext cx="48463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35 conditions · 99 cells · 1,190 matched snapshots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90488" y="4727448"/>
            <a:ext cx="5239512" cy="987552"/>
          </a:xfrm>
          <a:prstGeom prst="roundRect">
            <a:avLst/>
          </a:prstGeom>
          <a:solidFill>
            <a:srgbClr val="F1EEFB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90488" y="4727448"/>
            <a:ext cx="64008" cy="987552"/>
          </a:xfrm>
          <a:prstGeom prst="rect">
            <a:avLst/>
          </a:prstGeom>
          <a:solidFill>
            <a:srgbClr val="7656D6"/>
          </a:solidFill>
          <a:ln w="12700">
            <a:solidFill>
              <a:srgbClr val="76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892040"/>
            <a:ext cx="485546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ElasticNet warning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321808"/>
            <a:ext cx="4855464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D_CORE worsened MAE +0.804 pp [ +0.285, +1.361 ]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961888"/>
            <a:ext cx="107716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50" b="1">
                <a:solidFill>
                  <a:srgbClr val="F2A93B"/>
                </a:solidFill>
                <a:latin typeface="Microsoft YaHei"/>
              </a:defRPr>
            </a:pPr>
            <a:r>
              <a:t>同一 EIS 表示在不同模型里给出相反方向：这是 model-dependent diagnostic，而不是 EIS 总结论。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 vs D_CORE/EIS  ·  NO PROTECTED TEST  ·  NO SELECTION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结果 · DRIVING PROFILE 与 EIS结论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15. Driving profile：结果依赖模型，证据有限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389888"/>
            <a:ext cx="475488" cy="475488"/>
          </a:xfrm>
          <a:prstGeom prst="ellipse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99616"/>
            <a:ext cx="4754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1353312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72033"/>
                </a:solidFill>
                <a:latin typeface="Microsoft YaHei"/>
              </a:defRPr>
            </a:pPr>
            <a:r>
              <a:t>Profile / Elastic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353312"/>
            <a:ext cx="82753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627089"/>
                </a:solidFill>
                <a:latin typeface="Microsoft YaHei"/>
              </a:defRPr>
            </a:pPr>
            <a:r>
              <a:t>D_CORE−B = −0.330 pp；95% CI [−1.208, +0.433]，跨 0。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240280"/>
            <a:ext cx="475488" cy="475488"/>
          </a:xfrm>
          <a:prstGeom prst="ellipse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50008"/>
            <a:ext cx="4754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2203704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72033"/>
                </a:solidFill>
                <a:latin typeface="Microsoft YaHei"/>
              </a:defRPr>
            </a:pPr>
            <a:r>
              <a:t>Profile / HGB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203704"/>
            <a:ext cx="82753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627089"/>
                </a:solidFill>
                <a:latin typeface="Microsoft YaHei"/>
              </a:defRPr>
            </a:pPr>
            <a:r>
              <a:t>D_CORE−B = +0.215 pp；95% CI [+0.036, +0.384]。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090672"/>
            <a:ext cx="475488" cy="475488"/>
          </a:xfrm>
          <a:prstGeom prst="ellipse">
            <a:avLst/>
          </a:prstGeom>
          <a:solidFill>
            <a:srgbClr val="7656D6"/>
          </a:solidFill>
          <a:ln w="12700">
            <a:solidFill>
              <a:srgbClr val="76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4754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3054096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72033"/>
                </a:solidFill>
                <a:latin typeface="Microsoft YaHei"/>
              </a:defRPr>
            </a:pPr>
            <a:r>
              <a:t>Calendar / HGB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054096"/>
            <a:ext cx="82753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627089"/>
                </a:solidFill>
                <a:latin typeface="Microsoft YaHei"/>
              </a:defRPr>
            </a:pPr>
            <a:r>
              <a:t>D_CORE−B = −0.001 pp；95% CI [−0.013, +0.009]，没有清楚增量。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3941063"/>
            <a:ext cx="475488" cy="47548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50791"/>
            <a:ext cx="4754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3904487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72033"/>
                </a:solidFill>
                <a:latin typeface="Microsoft YaHei"/>
              </a:defRPr>
            </a:pPr>
            <a:r>
              <a:t>Cyclic / HGB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3904487"/>
            <a:ext cx="82753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627089"/>
                </a:solidFill>
                <a:latin typeface="Microsoft YaHei"/>
              </a:defRPr>
            </a:pPr>
            <a:r>
              <a:t>D_CORE−B = −0.625 pp；95% CI [−1.056, −0.241]。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4791456"/>
            <a:ext cx="475488" cy="475488"/>
          </a:xfrm>
          <a:prstGeom prst="ellipse">
            <a:avLst/>
          </a:prstGeom>
          <a:solidFill>
            <a:srgbClr val="E45B5B"/>
          </a:solidFill>
          <a:ln w="12700">
            <a:solidFill>
              <a:srgbClr val="E4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901184"/>
            <a:ext cx="4754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5024" y="475488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72033"/>
                </a:solidFill>
                <a:latin typeface="Microsoft YaHei"/>
              </a:defRPr>
            </a:pPr>
            <a:r>
              <a:t>解释边界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754880"/>
            <a:ext cx="82753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627089"/>
                </a:solidFill>
                <a:latin typeface="Microsoft YaHei"/>
              </a:defRPr>
            </a:pPr>
            <a:r>
              <a:t>Profile 只有 11 eligible conditions；temperature/EIS context仍有残余限制。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705856"/>
            <a:ext cx="10753344" cy="585216"/>
          </a:xfrm>
          <a:prstGeom prst="round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870448"/>
            <a:ext cx="10332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唯一稳妥结论：D_CORE/EIS 的表现依赖 ageing mode 和 model family；未做 selection 或 promotion。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 vs D_CORE/EIS  ·  NO PROTECTED TEST  ·  NO SELECTION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证据边界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16. EIS mode/model 依赖：不能写成“EIS 总是更好”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371600"/>
            <a:ext cx="33832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59" y="1554480"/>
            <a:ext cx="685800" cy="310896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FD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E45B5B"/>
                </a:solidFill>
                <a:latin typeface="Microsoft YaHei"/>
              </a:defRPr>
            </a:pPr>
            <a:r>
              <a:t>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" y="1636776"/>
            <a:ext cx="21488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72033"/>
                </a:solidFill>
                <a:latin typeface="Microsoft YaHei"/>
              </a:defRPr>
            </a:pPr>
            <a:r>
              <a:t>protected / external 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5" y="1371600"/>
            <a:ext cx="33832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98847" y="1554480"/>
            <a:ext cx="685800" cy="310896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FD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7" y="1581912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E45B5B"/>
                </a:solidFill>
                <a:latin typeface="Microsoft YaHei"/>
              </a:defRPr>
            </a:pPr>
            <a:r>
              <a:t>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94375" y="1636776"/>
            <a:ext cx="21488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72033"/>
                </a:solidFill>
                <a:latin typeface="Microsoft YaHei"/>
              </a:defRPr>
            </a:pPr>
            <a:r>
              <a:t>publication / resume approval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371600"/>
            <a:ext cx="33832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74736" y="1554480"/>
            <a:ext cx="685800" cy="310896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FD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1581912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E45B5B"/>
                </a:solidFill>
                <a:latin typeface="Microsoft YaHei"/>
              </a:defRPr>
            </a:pPr>
            <a: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0264" y="1636776"/>
            <a:ext cx="21488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72033"/>
                </a:solidFill>
                <a:latin typeface="Microsoft YaHei"/>
              </a:defRPr>
            </a:pPr>
            <a:r>
              <a:t>O2 / failure classification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24912"/>
            <a:ext cx="33832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59" y="2907792"/>
            <a:ext cx="685800" cy="310896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FD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935224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E45B5B"/>
                </a:solidFill>
                <a:latin typeface="Microsoft YaHei"/>
              </a:defRPr>
            </a:pPr>
            <a:r>
              <a:t>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8488" y="2990088"/>
            <a:ext cx="21488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72033"/>
                </a:solidFill>
                <a:latin typeface="Microsoft YaHei"/>
              </a:defRPr>
            </a:pPr>
            <a:r>
              <a:t>pulse / auxiliary diagnostics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4255" y="2724912"/>
            <a:ext cx="33832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98847" y="2907792"/>
            <a:ext cx="685800" cy="310896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FD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7" y="2935224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E45B5B"/>
                </a:solidFill>
                <a:latin typeface="Microsoft YaHei"/>
              </a:defRPr>
            </a:pPr>
            <a:r>
              <a:t>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94375" y="2990088"/>
            <a:ext cx="21488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72033"/>
                </a:solidFill>
                <a:latin typeface="Microsoft YaHei"/>
              </a:defRPr>
            </a:pPr>
            <a:r>
              <a:t>RUL / prediction interval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0144" y="2724912"/>
            <a:ext cx="33832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74736" y="2907792"/>
            <a:ext cx="685800" cy="310896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FD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0456" y="2935224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E45B5B"/>
                </a:solidFill>
                <a:latin typeface="Microsoft YaHei"/>
              </a:defRPr>
            </a:pPr>
            <a:r>
              <a:t>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0264" y="2990088"/>
            <a:ext cx="21488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72033"/>
                </a:solidFill>
                <a:latin typeface="Microsoft YaHei"/>
              </a:defRPr>
            </a:pPr>
            <a:r>
              <a:t>maintenance / production proof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361688"/>
            <a:ext cx="10744200" cy="1143000"/>
          </a:xfrm>
          <a:prstGeom prst="roundRect">
            <a:avLst/>
          </a:prstGeom>
          <a:solidFill>
            <a:srgbClr val="2A1C25"/>
          </a:solidFill>
          <a:ln w="12700">
            <a:solidFill>
              <a:srgbClr val="2A1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4590288"/>
            <a:ext cx="30632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2A93B"/>
                </a:solidFill>
                <a:latin typeface="Microsoft YaHei"/>
              </a:defRPr>
            </a:pPr>
            <a:r>
              <a:t>scientific_result = false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4590288"/>
            <a:ext cx="30632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2A93B"/>
                </a:solidFill>
                <a:latin typeface="Microsoft YaHei"/>
              </a:defRPr>
            </a:pPr>
            <a:r>
              <a:t>formal_model_result = false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4927" y="4590288"/>
            <a:ext cx="35204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2A93B"/>
                </a:solidFill>
                <a:latin typeface="Microsoft YaHei"/>
              </a:defRPr>
            </a:pPr>
            <a:r>
              <a:t>publication_ready = false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824728"/>
            <a:ext cx="107442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E45B5B"/>
                </a:solidFill>
                <a:latin typeface="Microsoft YaHei"/>
              </a:defRPr>
            </a:pPr>
            <a:r>
              <a:t>paired development delta ≠ 最终 EIS 增量结论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 vs D_CORE/EIS  ·  NO PROTECTED TEST  ·  NO SELECTION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产品表达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17. Fleet simulation UI：把预测过程讲清楚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44752"/>
            <a:ext cx="1517904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517904"/>
            <a:ext cx="137160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69" b="1">
                <a:solidFill>
                  <a:srgbClr val="172033"/>
                </a:solidFill>
                <a:latin typeface="Microsoft YaHei"/>
              </a:defRPr>
            </a:pPr>
            <a:r>
              <a:t>228-cell roster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76272" y="1627632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5456" y="1444752"/>
            <a:ext cx="1517904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78608" y="1517904"/>
            <a:ext cx="137160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69" b="1">
                <a:solidFill>
                  <a:srgbClr val="172033"/>
                </a:solidFill>
                <a:latin typeface="Microsoft YaHei"/>
              </a:defRPr>
            </a:pPr>
            <a:r>
              <a:t>选择 ageing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627632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444752"/>
            <a:ext cx="1517904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5696" y="1517904"/>
            <a:ext cx="137160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69" b="1">
                <a:solidFill>
                  <a:srgbClr val="172033"/>
                </a:solidFill>
                <a:latin typeface="Microsoft YaHei"/>
              </a:defRPr>
            </a:pPr>
            <a:r>
              <a:t>沿 check-up 回放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1627632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444752"/>
            <a:ext cx="1517904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1517904"/>
            <a:ext cx="137160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69" b="1">
                <a:solidFill>
                  <a:srgbClr val="172033"/>
                </a:solidFill>
                <a:latin typeface="Microsoft YaHei"/>
              </a:defRPr>
            </a:pPr>
            <a:r>
              <a:t>当前 SoH + 历史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7536" y="1627632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444752"/>
            <a:ext cx="1517904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9872" y="1517904"/>
            <a:ext cx="137160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69" b="1">
                <a:solidFill>
                  <a:srgbClr val="172033"/>
                </a:solidFill>
                <a:latin typeface="Microsoft YaHei"/>
              </a:defRPr>
            </a:pPr>
            <a:r>
              <a:t>H3 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64624" y="1627632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93808" y="1444752"/>
            <a:ext cx="1517904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1517904"/>
            <a:ext cx="137160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69" b="1">
                <a:solidFill>
                  <a:srgbClr val="172033"/>
                </a:solidFill>
                <a:latin typeface="Microsoft YaHei"/>
              </a:defRPr>
            </a:pPr>
            <a:r>
              <a:t>truth 到期解锁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660904"/>
            <a:ext cx="10753344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2926080"/>
            <a:ext cx="1920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3478F6"/>
                </a:solidFill>
                <a:latin typeface="Microsoft YaHei"/>
              </a:defRPr>
            </a:pPr>
            <a:r>
              <a:t>PAST / AVAILABLE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3566160"/>
            <a:ext cx="9994392" cy="9144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" y="3401568"/>
            <a:ext cx="329184" cy="329184"/>
          </a:xfrm>
          <a:prstGeom prst="ellipse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3840480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3478F6"/>
                </a:solidFill>
                <a:latin typeface="Microsoft YaHei"/>
              </a:defRPr>
            </a:pPr>
            <a:r>
              <a:t>t−2</a:t>
            </a:r>
          </a:p>
        </p:txBody>
      </p:sp>
      <p:sp>
        <p:nvSpPr>
          <p:cNvPr id="27" name="Oval 26"/>
          <p:cNvSpPr/>
          <p:nvPr/>
        </p:nvSpPr>
        <p:spPr>
          <a:xfrm>
            <a:off x="2862072" y="3401568"/>
            <a:ext cx="329184" cy="329184"/>
          </a:xfrm>
          <a:prstGeom prst="ellipse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78024" y="3840480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3478F6"/>
                </a:solidFill>
                <a:latin typeface="Microsoft YaHei"/>
              </a:defRPr>
            </a:pPr>
            <a:r>
              <a:t>t−1</a:t>
            </a:r>
          </a:p>
        </p:txBody>
      </p:sp>
      <p:sp>
        <p:nvSpPr>
          <p:cNvPr id="29" name="Oval 28"/>
          <p:cNvSpPr/>
          <p:nvPr/>
        </p:nvSpPr>
        <p:spPr>
          <a:xfrm>
            <a:off x="4764024" y="3401568"/>
            <a:ext cx="329184" cy="329184"/>
          </a:xfrm>
          <a:prstGeom prst="ellipse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9976" y="3840480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31B57A"/>
                </a:solidFill>
                <a:latin typeface="Microsoft YaHei"/>
              </a:defRPr>
            </a:pPr>
            <a:r>
              <a:t>t NOW</a:t>
            </a:r>
          </a:p>
        </p:txBody>
      </p:sp>
      <p:sp>
        <p:nvSpPr>
          <p:cNvPr id="31" name="Oval 30"/>
          <p:cNvSpPr/>
          <p:nvPr/>
        </p:nvSpPr>
        <p:spPr>
          <a:xfrm>
            <a:off x="6665976" y="3401568"/>
            <a:ext cx="329184" cy="329184"/>
          </a:xfrm>
          <a:prstGeom prst="ellipse">
            <a:avLst/>
          </a:prstGeom>
          <a:solidFill>
            <a:srgbClr val="627089"/>
          </a:solidFill>
          <a:ln w="12700">
            <a:solidFill>
              <a:srgbClr val="627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1928" y="3840480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627089"/>
                </a:solidFill>
                <a:latin typeface="Microsoft YaHei"/>
              </a:defRPr>
            </a:pPr>
            <a:r>
              <a:t>t+1</a:t>
            </a:r>
          </a:p>
        </p:txBody>
      </p:sp>
      <p:sp>
        <p:nvSpPr>
          <p:cNvPr id="33" name="Oval 32"/>
          <p:cNvSpPr/>
          <p:nvPr/>
        </p:nvSpPr>
        <p:spPr>
          <a:xfrm>
            <a:off x="8567928" y="3401568"/>
            <a:ext cx="329184" cy="329184"/>
          </a:xfrm>
          <a:prstGeom prst="ellipse">
            <a:avLst/>
          </a:prstGeom>
          <a:solidFill>
            <a:srgbClr val="627089"/>
          </a:solidFill>
          <a:ln w="12700">
            <a:solidFill>
              <a:srgbClr val="627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80" y="3840480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627089"/>
                </a:solidFill>
                <a:latin typeface="Microsoft YaHei"/>
              </a:defRPr>
            </a:pPr>
            <a:r>
              <a:t>t+2</a:t>
            </a:r>
          </a:p>
        </p:txBody>
      </p:sp>
      <p:sp>
        <p:nvSpPr>
          <p:cNvPr id="35" name="Oval 34"/>
          <p:cNvSpPr/>
          <p:nvPr/>
        </p:nvSpPr>
        <p:spPr>
          <a:xfrm>
            <a:off x="10469880" y="3401568"/>
            <a:ext cx="329184" cy="329184"/>
          </a:xfrm>
          <a:prstGeom prst="ellipse">
            <a:avLst/>
          </a:prstGeom>
          <a:solidFill>
            <a:srgbClr val="7656D6"/>
          </a:solidFill>
          <a:ln w="12700">
            <a:solidFill>
              <a:srgbClr val="76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85832" y="3840480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7656D6"/>
                </a:solidFill>
                <a:latin typeface="Microsoft YaHei"/>
              </a:defRPr>
            </a:pPr>
            <a:r>
              <a:t>t+3 TRUTH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2907792"/>
            <a:ext cx="20116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31B57A"/>
                </a:solidFill>
                <a:latin typeface="Microsoft YaHei"/>
              </a:defRPr>
            </a:pPr>
            <a:r>
              <a:t>prediction issued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2907792"/>
            <a:ext cx="20116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7656D6"/>
                </a:solidFill>
                <a:latin typeface="Microsoft YaHei"/>
              </a:defRPr>
            </a:pPr>
            <a:r>
              <a:t>truth locked until available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2688" y="5193792"/>
            <a:ext cx="2212848" cy="310896"/>
          </a:xfrm>
          <a:prstGeom prst="roundRect">
            <a:avLst/>
          </a:prstGeom>
          <a:solidFill>
            <a:srgbClr val="FFF5E4"/>
          </a:solidFill>
          <a:ln w="12700">
            <a:solidFill>
              <a:srgbClr val="F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" y="5221224"/>
            <a:ext cx="212140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F2A93B"/>
                </a:solidFill>
                <a:latin typeface="Microsoft YaHei"/>
              </a:defRPr>
            </a:pPr>
            <a:r>
              <a:t>insufficient_history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29000" y="5193792"/>
            <a:ext cx="2212848" cy="310896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FD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0" y="5221224"/>
            <a:ext cx="212140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E45B5B"/>
                </a:solidFill>
                <a:latin typeface="Microsoft YaHei"/>
              </a:defRPr>
            </a:pPr>
            <a:r>
              <a:t>no_h3_followup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25312" y="5193792"/>
            <a:ext cx="2212848" cy="310896"/>
          </a:xfrm>
          <a:prstGeom prst="roundRect">
            <a:avLst/>
          </a:prstGeom>
          <a:solidFill>
            <a:srgbClr val="E8F9FA"/>
          </a:solidFill>
          <a:ln w="12700">
            <a:solidFill>
              <a:srgbClr val="E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71032" y="5221224"/>
            <a:ext cx="212140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3478F6"/>
                </a:solidFill>
                <a:latin typeface="Microsoft YaHei"/>
              </a:defRPr>
            </a:pPr>
            <a:r>
              <a:t>development replay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21624" y="5193792"/>
            <a:ext cx="2212848" cy="310896"/>
          </a:xfrm>
          <a:prstGeom prst="roundRect">
            <a:avLst/>
          </a:prstGeom>
          <a:solidFill>
            <a:srgbClr val="EFEAF8"/>
          </a:solidFill>
          <a:ln w="12700">
            <a:solidFill>
              <a:srgbClr val="EF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67344" y="5221224"/>
            <a:ext cx="212140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7656D6"/>
                </a:solidFill>
                <a:latin typeface="Microsoft YaHei"/>
              </a:defRPr>
            </a:pPr>
            <a:r>
              <a:t>final mode disabled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5897880"/>
            <a:ext cx="107533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172033"/>
                </a:solidFill>
                <a:latin typeface="Microsoft YaHei"/>
              </a:defRPr>
            </a:pPr>
            <a:r>
              <a:t>UI 必须区分预测、实测 truth 与不可用状态；不能制造“数字孪生”确定性。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 vs D_CORE/EIS  ·  NO PROTECTED TEST  ·  NO SELECTION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业务价值假设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18. Business / production impact：从预警到人工决策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389888"/>
            <a:ext cx="1517904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463040"/>
            <a:ext cx="137160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80" b="1">
                <a:solidFill>
                  <a:srgbClr val="172033"/>
                </a:solidFill>
                <a:latin typeface="Microsoft YaHei"/>
              </a:defRPr>
            </a:pPr>
            <a:r>
              <a:t>scheduled check-up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76272" y="1572768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1B57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5456" y="1389888"/>
            <a:ext cx="1517904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78608" y="1463040"/>
            <a:ext cx="137160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80" b="1">
                <a:solidFill>
                  <a:srgbClr val="172033"/>
                </a:solidFill>
                <a:latin typeface="Microsoft YaHei"/>
              </a:defRPr>
            </a:pPr>
            <a:r>
              <a:t>future-loss estimate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572768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1B57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389888"/>
            <a:ext cx="1517904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5696" y="1463040"/>
            <a:ext cx="137160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80" b="1">
                <a:solidFill>
                  <a:srgbClr val="172033"/>
                </a:solidFill>
                <a:latin typeface="Microsoft YaHei"/>
              </a:defRPr>
            </a:pPr>
            <a:r>
              <a:t>evidence packet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1572768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1B57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389888"/>
            <a:ext cx="1517904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1463040"/>
            <a:ext cx="137160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80" b="1">
                <a:solidFill>
                  <a:srgbClr val="172033"/>
                </a:solidFill>
                <a:latin typeface="Microsoft YaHei"/>
              </a:defRPr>
            </a:pPr>
            <a:r>
              <a:t>prioritize retest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7536" y="1572768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1B57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389888"/>
            <a:ext cx="1517904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9872" y="1463040"/>
            <a:ext cx="137160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80" b="1">
                <a:solidFill>
                  <a:srgbClr val="172033"/>
                </a:solidFill>
                <a:latin typeface="Microsoft YaHei"/>
              </a:defRPr>
            </a:pPr>
            <a:r>
              <a:t>engineering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64624" y="1572768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1B57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93808" y="1389888"/>
            <a:ext cx="1517904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1463040"/>
            <a:ext cx="137160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80" b="1">
                <a:solidFill>
                  <a:srgbClr val="172033"/>
                </a:solidFill>
                <a:latin typeface="Microsoft YaHei"/>
              </a:defRPr>
            </a:pPr>
            <a:r>
              <a:t>human decision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606040"/>
            <a:ext cx="523036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2606040"/>
            <a:ext cx="64008" cy="1024128"/>
          </a:xfrm>
          <a:prstGeom prst="rect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2770632"/>
            <a:ext cx="4846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200400"/>
            <a:ext cx="4846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把注意力放在快速衰减或证据异常电芯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2606040"/>
            <a:ext cx="523036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2606040"/>
            <a:ext cx="64008" cy="1024128"/>
          </a:xfrm>
          <a:prstGeom prst="rect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770632"/>
            <a:ext cx="4846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200400"/>
            <a:ext cx="4846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同时呈现 current health、future estimate、数据质量与来源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04487"/>
            <a:ext cx="523036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04487"/>
            <a:ext cx="64008" cy="1024128"/>
          </a:xfrm>
          <a:prstGeom prst="rect">
            <a:avLst/>
          </a:prstGeom>
          <a:solidFill>
            <a:srgbClr val="7656D6"/>
          </a:solidFill>
          <a:ln w="12700">
            <a:solidFill>
              <a:srgbClr val="76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069079"/>
            <a:ext cx="4846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498848"/>
            <a:ext cx="4846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记录每次复测、审查和人工决定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4768" y="3904487"/>
            <a:ext cx="523036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44768" y="3904487"/>
            <a:ext cx="64008" cy="102412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4069079"/>
            <a:ext cx="4846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498848"/>
            <a:ext cx="4846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用 missed cases、review burden、lead time、成本做前瞻评估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404104"/>
            <a:ext cx="10735056" cy="603504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E4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5568696"/>
            <a:ext cx="103144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150" b="1">
                <a:solidFill>
                  <a:srgbClr val="E45B5B"/>
                </a:solidFill>
                <a:latin typeface="Microsoft YaHei"/>
              </a:defRPr>
            </a:pPr>
            <a:r>
              <a:t>模型不直接换电池；“是否省钱、是否少漏检”都尚未验证。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 vs D_CORE/EIS  ·  NO PROTECTED TEST  ·  NO SELECTION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下一轮实验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19. Limitations + next protected / external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344168"/>
            <a:ext cx="523036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7" y="1572768"/>
            <a:ext cx="502920" cy="502920"/>
          </a:xfrm>
          <a:prstGeom prst="ellipse">
            <a:avLst/>
          </a:prstGeom>
          <a:solidFill>
            <a:srgbClr val="E45B5B"/>
          </a:solidFill>
          <a:ln w="12700">
            <a:solidFill>
              <a:srgbClr val="E4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09928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508760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72033"/>
                </a:solidFill>
                <a:latin typeface="Microsoft YaHei"/>
              </a:defRPr>
            </a:pPr>
            <a:r>
              <a:t>错误分析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1920240"/>
            <a:ext cx="404164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27089"/>
                </a:solidFill>
                <a:latin typeface="Microsoft YaHei"/>
              </a:defRPr>
            </a:pPr>
            <a:r>
              <a:t>解释 slope 胜出的 conditions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344168"/>
            <a:ext cx="523036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27648" y="1572768"/>
            <a:ext cx="502920" cy="502920"/>
          </a:xfrm>
          <a:prstGeom prst="ellipse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709928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2592" y="1508760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72033"/>
                </a:solidFill>
                <a:latin typeface="Microsoft YaHei"/>
              </a:defRPr>
            </a:pPr>
            <a:r>
              <a:t>Horizon sensitivity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1920240"/>
            <a:ext cx="404164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27089"/>
                </a:solidFill>
                <a:latin typeface="Microsoft YaHei"/>
              </a:defRPr>
            </a:pPr>
            <a:r>
              <a:t>新 protocol 下比较 H1/H3/H5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788920"/>
            <a:ext cx="523036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7" y="3017520"/>
            <a:ext cx="502920" cy="502920"/>
          </a:xfrm>
          <a:prstGeom prst="ellipse">
            <a:avLst/>
          </a:prstGeom>
          <a:solidFill>
            <a:srgbClr val="7656D6"/>
          </a:solidFill>
          <a:ln w="12700">
            <a:solidFill>
              <a:srgbClr val="76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154679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2953512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72033"/>
                </a:solidFill>
                <a:latin typeface="Microsoft YaHei"/>
              </a:defRPr>
            </a:pPr>
            <a:r>
              <a:t>EIS incremental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3364991"/>
            <a:ext cx="404164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27089"/>
                </a:solidFill>
                <a:latin typeface="Microsoft YaHei"/>
              </a:defRPr>
            </a:pPr>
            <a:r>
              <a:t>同 snapshot / fold / model 比 B vs D_CORE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2788920"/>
            <a:ext cx="523036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27648" y="3017520"/>
            <a:ext cx="502920" cy="502920"/>
          </a:xfrm>
          <a:prstGeom prst="ellipse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3154679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2953512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72033"/>
                </a:solidFill>
                <a:latin typeface="Microsoft YaHei"/>
              </a:defRPr>
            </a:pPr>
            <a:r>
              <a:t>变量稳定性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592" y="3364991"/>
            <a:ext cx="404164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27089"/>
                </a:solidFill>
                <a:latin typeface="Microsoft YaHei"/>
              </a:defRPr>
            </a:pPr>
            <a:r>
              <a:t>condition-grouped inner CV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233672"/>
            <a:ext cx="523036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1247" y="4462272"/>
            <a:ext cx="502920" cy="50292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459943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36192" y="4398264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72033"/>
                </a:solidFill>
                <a:latin typeface="Microsoft YaHei"/>
              </a:defRPr>
            </a:pPr>
            <a:r>
              <a:t>外部验证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6192" y="4809744"/>
            <a:ext cx="404164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27089"/>
                </a:solidFill>
                <a:latin typeface="Microsoft YaHei"/>
              </a:defRPr>
            </a:pPr>
            <a:r>
              <a:t>冻结后申请一次 protected evaluation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4233672"/>
            <a:ext cx="523036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27648" y="4462272"/>
            <a:ext cx="502920" cy="502920"/>
          </a:xfrm>
          <a:prstGeom prst="ellipse">
            <a:avLst/>
          </a:prstGeom>
          <a:solidFill>
            <a:srgbClr val="27C2D1"/>
          </a:solidFill>
          <a:ln w="12700">
            <a:solidFill>
              <a:srgbClr val="27C2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459943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2592" y="4398264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72033"/>
                </a:solidFill>
                <a:latin typeface="Microsoft YaHei"/>
              </a:defRPr>
            </a:pPr>
            <a:r>
              <a:t>O2 / noise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4809744"/>
            <a:ext cx="404164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27089"/>
                </a:solidFill>
                <a:latin typeface="Microsoft YaHei"/>
              </a:defRPr>
            </a:pPr>
            <a:r>
              <a:t>先取得 capacity technical repeats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806440"/>
            <a:ext cx="10735056" cy="438912"/>
          </a:xfrm>
          <a:prstGeom prst="round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" y="5907024"/>
            <a:ext cx="10332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先解释失败模式，再检验 EIS 增量，最后讨论选择、告警与部署。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 vs D_CORE/EIS  ·  NO PROTECTED TEST  ·  NO SELECTION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20. 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44168"/>
            <a:ext cx="54864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我们完成了一个可审计的第一步</a:t>
            </a:r>
          </a:p>
        </p:txBody>
      </p:sp>
      <p:sp>
        <p:nvSpPr>
          <p:cNvPr id="6" name="Oval 5"/>
          <p:cNvSpPr/>
          <p:nvPr/>
        </p:nvSpPr>
        <p:spPr>
          <a:xfrm>
            <a:off x="713232" y="2066544"/>
            <a:ext cx="228600" cy="228600"/>
          </a:xfrm>
          <a:prstGeom prst="ellipse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84832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993392"/>
            <a:ext cx="48463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228 cells / 76 conditions inventory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2688336"/>
            <a:ext cx="228600" cy="228600"/>
          </a:xfrm>
          <a:prstGeom prst="ellipse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706624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615184"/>
            <a:ext cx="48463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exact-H3 target + prefix-only B and paired D_CORE views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3310128"/>
            <a:ext cx="228600" cy="228600"/>
          </a:xfrm>
          <a:prstGeom prst="ellipse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328416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236976"/>
            <a:ext cx="48463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54-fit condition-held-out paired development run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3931920"/>
            <a:ext cx="228600" cy="228600"/>
          </a:xfrm>
          <a:prstGeom prst="ellipse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950208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3858768"/>
            <a:ext cx="48463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2,919 matched snapshots · 23,352 OOF rows</a:t>
            </a:r>
          </a:p>
        </p:txBody>
      </p:sp>
      <p:sp>
        <p:nvSpPr>
          <p:cNvPr id="18" name="Oval 17"/>
          <p:cNvSpPr/>
          <p:nvPr/>
        </p:nvSpPr>
        <p:spPr>
          <a:xfrm>
            <a:off x="713232" y="4553712"/>
            <a:ext cx="228600" cy="228600"/>
          </a:xfrm>
          <a:prstGeom prst="ellipse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572000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4480560"/>
            <a:ext cx="48463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EIS增量依赖 mode / model，而不是全局赢家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65392" y="1353312"/>
            <a:ext cx="4919472" cy="3520440"/>
          </a:xfrm>
          <a:prstGeom prst="roundRect">
            <a:avLst/>
          </a:prstGeom>
          <a:solidFill>
            <a:srgbClr val="18273D"/>
          </a:solidFill>
          <a:ln w="12700">
            <a:solidFill>
              <a:srgbClr val="2C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664208"/>
            <a:ext cx="424281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2A93B"/>
                </a:solidFill>
                <a:latin typeface="Microsoft YaHei"/>
              </a:defRPr>
            </a:pPr>
            <a:r>
              <a:t>仍未完成</a:t>
            </a:r>
          </a:p>
        </p:txBody>
      </p:sp>
      <p:sp>
        <p:nvSpPr>
          <p:cNvPr id="23" name="Oval 22"/>
          <p:cNvSpPr/>
          <p:nvPr/>
        </p:nvSpPr>
        <p:spPr>
          <a:xfrm>
            <a:off x="6967728" y="2368296"/>
            <a:ext cx="118872" cy="11887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2267712"/>
            <a:ext cx="3611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FFFFFF"/>
                </a:solidFill>
                <a:latin typeface="Microsoft YaHei"/>
              </a:defRPr>
            </a:pPr>
            <a:r>
              <a:t>protected / external test</a:t>
            </a:r>
          </a:p>
        </p:txBody>
      </p:sp>
      <p:sp>
        <p:nvSpPr>
          <p:cNvPr id="25" name="Oval 24"/>
          <p:cNvSpPr/>
          <p:nvPr/>
        </p:nvSpPr>
        <p:spPr>
          <a:xfrm>
            <a:off x="6967728" y="2761488"/>
            <a:ext cx="118872" cy="11887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2904" y="2660904"/>
            <a:ext cx="3611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FFFFFF"/>
                </a:solidFill>
                <a:latin typeface="Microsoft YaHei"/>
              </a:defRPr>
            </a:pPr>
            <a:r>
              <a:t>模型选择</a:t>
            </a:r>
          </a:p>
        </p:txBody>
      </p:sp>
      <p:sp>
        <p:nvSpPr>
          <p:cNvPr id="27" name="Oval 26"/>
          <p:cNvSpPr/>
          <p:nvPr/>
        </p:nvSpPr>
        <p:spPr>
          <a:xfrm>
            <a:off x="6967728" y="3154679"/>
            <a:ext cx="118872" cy="11887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32904" y="3054096"/>
            <a:ext cx="3611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FFFFFF"/>
                </a:solidFill>
                <a:latin typeface="Microsoft YaHei"/>
              </a:defRPr>
            </a:pPr>
            <a:r>
              <a:t>EIS replication</a:t>
            </a:r>
          </a:p>
        </p:txBody>
      </p:sp>
      <p:sp>
        <p:nvSpPr>
          <p:cNvPr id="29" name="Oval 28"/>
          <p:cNvSpPr/>
          <p:nvPr/>
        </p:nvSpPr>
        <p:spPr>
          <a:xfrm>
            <a:off x="6967728" y="3547872"/>
            <a:ext cx="118872" cy="11887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32904" y="3447288"/>
            <a:ext cx="3611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FFFFFF"/>
                </a:solidFill>
                <a:latin typeface="Microsoft YaHei"/>
              </a:defRPr>
            </a:pPr>
            <a:r>
              <a:t>O2 告警</a:t>
            </a:r>
          </a:p>
        </p:txBody>
      </p:sp>
      <p:sp>
        <p:nvSpPr>
          <p:cNvPr id="31" name="Oval 30"/>
          <p:cNvSpPr/>
          <p:nvPr/>
        </p:nvSpPr>
        <p:spPr>
          <a:xfrm>
            <a:off x="6967728" y="3941064"/>
            <a:ext cx="118872" cy="11887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32904" y="3840480"/>
            <a:ext cx="3611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FFFFFF"/>
                </a:solidFill>
                <a:latin typeface="Microsoft YaHei"/>
              </a:defRPr>
            </a:pPr>
            <a:r>
              <a:t>生产影响</a:t>
            </a:r>
          </a:p>
        </p:txBody>
      </p:sp>
      <p:sp>
        <p:nvSpPr>
          <p:cNvPr id="33" name="Oval 32"/>
          <p:cNvSpPr/>
          <p:nvPr/>
        </p:nvSpPr>
        <p:spPr>
          <a:xfrm>
            <a:off x="6967728" y="4334256"/>
            <a:ext cx="118872" cy="11887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32904" y="4233672"/>
            <a:ext cx="3611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FFFFFF"/>
                </a:solidFill>
                <a:latin typeface="Microsoft YaHei"/>
              </a:defRPr>
            </a:pPr>
            <a:r>
              <a:t>公开发布批准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385816"/>
            <a:ext cx="10789920" cy="685800"/>
          </a:xfrm>
          <a:prstGeom prst="roundRect">
            <a:avLst/>
          </a:prstGeom>
          <a:solidFill>
            <a:srgbClr val="112F43"/>
          </a:solidFill>
          <a:ln w="12700">
            <a:solidFill>
              <a:srgbClr val="11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577840"/>
            <a:ext cx="103327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27C2D1"/>
                </a:solidFill>
                <a:latin typeface="Microsoft YaHei"/>
              </a:defRPr>
            </a:pPr>
            <a:r>
              <a:t>可靠的研究结论，有时是知道简单方法在哪里更强。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 vs D_CORE/EIS  ·  NO PROTECTED TEST  ·  NO SELECTION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电池衰减预警：KIT B vs D_CORE/EIS development OOF 研究</dc:title>
  <dc:subject>21-slide paired B vs D_CORE research seminar; development evidence only</dc:subject>
  <dc:creator>Lu Zhang</dc:creator>
  <cp:keywords/>
  <dc:description>Generated from docs/slides/battery-early-warning-research-seminar.md; DEVELOPMENT OOF, paired B vs D_CORE/EIS, no protected test, no selection.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